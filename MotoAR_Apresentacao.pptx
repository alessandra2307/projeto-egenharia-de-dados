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-6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005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0" y="-731520"/>
            <a:ext cx="5029200" cy="5029200"/>
          </a:xfrm>
          <a:prstGeom prst="ellipse">
            <a:avLst/>
          </a:prstGeom>
          <a:solidFill>
            <a:srgbClr val="0D2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-731520" y="4754880"/>
            <a:ext cx="3200400" cy="3200400"/>
          </a:xfrm>
          <a:prstGeom prst="ellipse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97280" y="1234440"/>
            <a:ext cx="2011680" cy="411480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26187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71122"/>
                </a:solidFill>
              </a:rPr>
              <a:t>🌿  AQI — Boa qualidade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737360"/>
            <a:ext cx="10058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MotoAR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375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DC8E4"/>
                </a:solidFill>
              </a:rPr>
              <a:t>Plataforma de Qualidade do Ar para Motociclistas de Brasília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8862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Planejamento Arquitetural — Parte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5715000"/>
            <a:ext cx="6400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ADC8E4"/>
                </a:solidFill>
              </a:rPr>
              <a:t>Alessandra </a:t>
            </a:r>
            <a:r>
              <a:rPr lang="pt-BR" sz="1400" dirty="0">
                <a:solidFill>
                  <a:srgbClr val="ADC8E4"/>
                </a:solidFill>
              </a:rPr>
              <a:t>Gonçalves</a:t>
            </a:r>
            <a:r>
              <a:rPr sz="1400" b="0" i="0" dirty="0">
                <a:solidFill>
                  <a:srgbClr val="ADC8E4"/>
                </a:solidFill>
              </a:rPr>
              <a:t> · Luiz Henrique · Rafael</a:t>
            </a:r>
            <a:r>
              <a:rPr lang="pt-BR" sz="1400" b="0" i="0" dirty="0">
                <a:solidFill>
                  <a:srgbClr val="ADC8E4"/>
                </a:solidFill>
              </a:rPr>
              <a:t> Mascarenhas</a:t>
            </a:r>
            <a:endParaRPr sz="1400" b="0" i="0" dirty="0">
              <a:solidFill>
                <a:srgbClr val="ADC8E4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6080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728A"/>
                </a:solidFill>
              </a:rPr>
              <a:t>UniCEUB — Engenharia de Dados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2" y="5897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728A"/>
                </a:solidFill>
              </a:rPr>
              <a:t>Prof. Luis Carlos Cardoso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12648" y="131673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32588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271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Descrição do 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910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Contexto, problema e stakeholders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19088" y="131673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32588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271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Classificação dos Dados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5910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Fontes · Formatos · 45.061 registros reais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01168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2648" y="213969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" y="214884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0939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Domínios e Serviços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414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5 domínios DDD + serviços compartilhados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01168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19088" y="213969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214884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0939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Arquitetura Medalhão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414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Bronze → Silver → Gold · Delta Lake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83464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12648" y="296265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" y="297180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2916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Tecnologias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2369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Stack open-source justificada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34640"/>
            <a:ext cx="5577840" cy="713232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19088" y="2962656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19088" y="297180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2916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EDA &amp; Considerações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2369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Análise exploratória + riscos + Parte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Descrição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Contexto · Problema · Stakeholders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39496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88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🏍️  +500 mil motos em Brasília — exposição direta ao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🌫️  PM2.5 pode ser 5× maior na estiagem (4–6 meses/ano)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📵  Nenhuma ferramenta pública integra poluição + EPI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📍  Lacuna real: decisão de proteção sem dados acessíveis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9776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Objetivos Principais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 Coletar dados de qualidade do ar (IQAir, INMET, Open-Meteo)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9145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 Pipeline robusto e rastreável com Arquitetura Medalhão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9379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 Score MotoAR 0–100 com previsão para as próximas 6h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961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 Recomendações práticas de EPI ao motociclista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143000"/>
            <a:ext cx="557784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261872"/>
            <a:ext cx="54864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36792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Stakeholders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1828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Motociclistas urbanos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82880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Usuário final — score + recomendação de EPI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4505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Pesquisadores / Saúde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45059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Dados históricos e painel de exposição por região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0723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Equipe do projeto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07238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Pipeline, modelo e manutenção da plataforma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69417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Gestores públicos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69417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Evidências para política de mobilidade em Brasília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1596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Prof. / UniCEUB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43159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Avaliação do ciclo de vida de eng. de dados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Definição e Classificação dos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Fontes · Formatos · Volumes · 45.061 registros reais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394960" cy="3840480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5394960" cy="548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7043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71122"/>
                </a:solidFill>
              </a:rPr>
              <a:t>📦  Dados Operacionais / Históricos (Batch)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470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Fonte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8470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Parâm.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8470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Volume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470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Freq.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470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Latência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INMET CRAS Fercal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8.760 reg.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1h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T+1h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5877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INMET Escola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25877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5877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8.760 reg.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5877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5877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T+1h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026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INMET 2024 hist.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026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026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8.784 reg.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026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1h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026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histórico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4655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Open-Meteo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34655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655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forecast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4655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6h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46557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batch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1143000"/>
            <a:ext cx="5577840" cy="3840480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26480" y="1143000"/>
            <a:ext cx="557784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63640" y="1170432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71122"/>
                </a:solidFill>
              </a:rPr>
              <a:t>⚡  Dados Near-Real-Time (Quasi-Streaming)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Fonte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Parâm.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Volume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Freq.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Latência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2148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IQAir — Brasília ctr.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2148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2148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9.853 reg.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2148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~1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1320" y="2148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&lt; 2min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9632" y="2587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IQAir — Escola 115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2587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80" y="2587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8.766 reg.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587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~1 min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61320" y="25877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&lt; 2min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9632" y="30266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IQAir — UnB Gama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30266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41080" y="30266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9.053 reg.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30266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~1 min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61320" y="30266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&lt; 2min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9632" y="3465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IQAir — Finatec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3465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41080" y="3465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8.629 reg.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3465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~1 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1320" y="3465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&lt; 2min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074920"/>
            <a:ext cx="2697480" cy="777240"/>
          </a:xfrm>
          <a:prstGeom prst="rect">
            <a:avLst/>
          </a:prstGeom>
          <a:solidFill>
            <a:srgbClr val="12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8640" y="5093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45.061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registros coletados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01568" y="5074920"/>
            <a:ext cx="2697480" cy="777240"/>
          </a:xfrm>
          <a:prstGeom prst="rect">
            <a:avLst/>
          </a:prstGeom>
          <a:solidFill>
            <a:srgbClr val="12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493008" y="5093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17.520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93008" y="546811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novos reg./mês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45936" y="5074920"/>
            <a:ext cx="2697480" cy="777240"/>
          </a:xfrm>
          <a:prstGeom prst="rect">
            <a:avLst/>
          </a:prstGeom>
          <a:solidFill>
            <a:srgbClr val="12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37376" y="5093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250k+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7376" y="546811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estimado em 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90304" y="5074920"/>
            <a:ext cx="2697480" cy="777240"/>
          </a:xfrm>
          <a:prstGeom prst="rect">
            <a:avLst/>
          </a:prstGeom>
          <a:solidFill>
            <a:srgbClr val="12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381744" y="5093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Parquet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81744" y="546811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formato final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Domínios e Serviços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5 domínios DDD · baixo acoplamento · alta coesão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2212848" cy="3657600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212848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59" y="1161288"/>
            <a:ext cx="2121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71122"/>
                </a:solidFill>
              </a:rPr>
              <a:t>Ingestão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837943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IQAir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INMET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7523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Open-Meteo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59" y="4023360"/>
            <a:ext cx="2103120" cy="384048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40416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B4D8"/>
                </a:solidFill>
              </a:rPr>
              <a:t>Python / Requests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1143000"/>
            <a:ext cx="2212848" cy="3657600"/>
          </a:xfrm>
          <a:prstGeom prst="rect">
            <a:avLst/>
          </a:prstGeom>
          <a:solidFill>
            <a:srgbClr val="122642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97480" y="1143000"/>
            <a:ext cx="2212848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0" y="1161288"/>
            <a:ext cx="2121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Processamento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17830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80360" y="1837943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Validação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2402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80360" y="22951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Outlier Clip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26974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80360" y="27523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Deduplicação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023360"/>
            <a:ext cx="2103120" cy="384048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88920" y="40416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5CF6"/>
                </a:solidFill>
              </a:rPr>
              <a:t>Great Expect. / PySpark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1143000"/>
            <a:ext cx="2212848" cy="3657600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74920" y="1143000"/>
            <a:ext cx="2212848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20640" y="1161288"/>
            <a:ext cx="2121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Feature Eng.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12080" y="17830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57800" y="1837943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86 features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12080" y="22402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57800" y="22951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Lag/Rolling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6974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57800" y="27523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Temporais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4023360"/>
            <a:ext cx="2103120" cy="384048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66360" y="40416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6B35"/>
                </a:solidFill>
              </a:rPr>
              <a:t>PySpark / Delta Lake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1143000"/>
            <a:ext cx="2212848" cy="3657600"/>
          </a:xfrm>
          <a:prstGeom prst="rect">
            <a:avLst/>
          </a:prstGeom>
          <a:solidFill>
            <a:srgbClr val="122642"/>
          </a:solidFill>
          <a:ln w="9525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452360" y="1143000"/>
            <a:ext cx="2212848" cy="5029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80" y="1161288"/>
            <a:ext cx="2121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71122"/>
                </a:solidFill>
              </a:rPr>
              <a:t>Modelo ML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17830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35240" y="1837943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22402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35240" y="22951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Score 0-100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26974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35240" y="27523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Classificação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98080" y="4023360"/>
            <a:ext cx="2103120" cy="384048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43800" y="40416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5C518"/>
                </a:solidFill>
              </a:rPr>
              <a:t>Scikit-Learn / MLflow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1143000"/>
            <a:ext cx="2212848" cy="3657600"/>
          </a:xfrm>
          <a:prstGeom prst="rect">
            <a:avLst/>
          </a:prstGeom>
          <a:solidFill>
            <a:srgbClr val="122642"/>
          </a:solidFill>
          <a:ln w="9525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829800" y="1143000"/>
            <a:ext cx="2212848" cy="502920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875520" y="1161288"/>
            <a:ext cx="2121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71122"/>
                </a:solidFill>
              </a:rPr>
              <a:t>Entrega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66960" y="17830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12680" y="1837943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App MotoAR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22402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12680" y="22951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Flask API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2697480"/>
            <a:ext cx="1901952" cy="38404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012680" y="2752344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C8E4"/>
                </a:solidFill>
              </a:rPr>
              <a:t>Notificações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023360"/>
            <a:ext cx="2103120" cy="384048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921240" y="40416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DC653"/>
                </a:solidFill>
              </a:rPr>
              <a:t>Flask / Metabase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" y="4553712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A728A"/>
                </a:solidFill>
              </a:rPr>
              <a:t>Ingestão  →  Processamento  →  Feature Eng.  →  Modelo ML  →  Entrega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0040" y="49834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A728A"/>
                </a:solidFill>
              </a:rPr>
              <a:t>Serviços Compartilhados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71600" y="5376672"/>
            <a:ext cx="4297680" cy="804672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463040" y="5394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A728A"/>
                </a:solidFill>
              </a:rPr>
              <a:t>Apache Airflow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3040" y="5715000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D5A78"/>
                </a:solidFill>
              </a:rPr>
              <a:t>Orquestração batch · DAGs Python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5376672"/>
            <a:ext cx="4297680" cy="804672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92240" y="5394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A728A"/>
                </a:solidFill>
              </a:rPr>
              <a:t>Grafana + Prometheus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92240" y="5715000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D5A78"/>
                </a:solidFill>
              </a:rPr>
              <a:t>Monitoramento · Alertas em tempo real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Arquitetura — Fluxo Ponta a Ponta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Arquitetura Medalhão · Bronze → Silver → Gold · Delta Lake</a:t>
            </a:r>
          </a:p>
        </p:txBody>
      </p:sp>
      <p:pic>
        <p:nvPicPr>
          <p:cNvPr id="7" name="Picture 6" descr="architectur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58952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38160" y="1143000"/>
            <a:ext cx="361188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21615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Arquitetura Medalhão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1618488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Organiza dados em três camadas progressivas de qualidade — ideal para auditabilidade em saúde pública.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487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Por que não Lambda?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52928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Duas bases de código para o mesmo resultado, sem ganho de latência justificável para o caso de uso.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630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Por que não Kappa?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95928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Sem requisito de streaming verdadeiro — micro-batching a cada 5min é suficiente e muito mais simples.</a:t>
            </a:r>
          </a:p>
        </p:txBody>
      </p:sp>
      <p:sp>
        <p:nvSpPr>
          <p:cNvPr id="15" name="Oval 14"/>
          <p:cNvSpPr/>
          <p:nvPr/>
        </p:nvSpPr>
        <p:spPr>
          <a:xfrm>
            <a:off x="8275320" y="4818888"/>
            <a:ext cx="292608" cy="292608"/>
          </a:xfrm>
          <a:prstGeom prst="ellipse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4782312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D7F32"/>
                </a:solidFill>
              </a:rPr>
              <a:t>Bronze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4352" y="481888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Dados brutos, imutáveis, ACID</a:t>
            </a:r>
          </a:p>
        </p:txBody>
      </p:sp>
      <p:sp>
        <p:nvSpPr>
          <p:cNvPr id="18" name="Oval 17"/>
          <p:cNvSpPr/>
          <p:nvPr/>
        </p:nvSpPr>
        <p:spPr>
          <a:xfrm>
            <a:off x="8275320" y="5294376"/>
            <a:ext cx="292608" cy="292608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41080" y="5257800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AAAAA"/>
                </a:solidFill>
              </a:rPr>
              <a:t>Silver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5294376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Limpos + deduplicados + validados</a:t>
            </a:r>
          </a:p>
        </p:txBody>
      </p:sp>
      <p:sp>
        <p:nvSpPr>
          <p:cNvPr id="21" name="Oval 20"/>
          <p:cNvSpPr/>
          <p:nvPr/>
        </p:nvSpPr>
        <p:spPr>
          <a:xfrm>
            <a:off x="8275320" y="5769864"/>
            <a:ext cx="292608" cy="292608"/>
          </a:xfrm>
          <a:prstGeom prst="ellipse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41080" y="573328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5769864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86 features para ML +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Diagrama de Domínios e Serviços</a:t>
            </a:r>
          </a:p>
        </p:txBody>
      </p:sp>
      <p:pic>
        <p:nvPicPr>
          <p:cNvPr id="6" name="Picture 5" descr="domain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Tecnologias — Stack Open-Source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Cada escolha justificada e viável em hardware local (8–16 GB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2788920" cy="5257800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788920" cy="47548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116128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Ingestão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Requests+Schedule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3911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Polling de APIs REST — simplicidade + controle total, sem overhead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IQAir / INMET / Open-Meteo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9923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APIs REST públicas e gratuitas — 3 fontes complementares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MinIO Bronze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5935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JSON bruto gravado imediatamente — S3-compatível, sem vendor lock-in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143000"/>
            <a:ext cx="2788920" cy="5257800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91840" y="1143000"/>
            <a:ext cx="2788920" cy="47548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116128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Armazenamento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73736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MinIO (object 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03911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100% compatível com S3 — migração zero-custo para AWS/GCP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69748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Delta Lake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99923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ACID + time travel + schema evolution sobre Parquet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65760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Apache Spark (PySpark)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95935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Batch distribuído — dedup, outlier clip, rolling windows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143000"/>
            <a:ext cx="2788920" cy="5257800"/>
          </a:xfrm>
          <a:prstGeom prst="rect">
            <a:avLst/>
          </a:prstGeom>
          <a:solidFill>
            <a:srgbClr val="122642"/>
          </a:solidFill>
          <a:ln w="9525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1143000"/>
            <a:ext cx="2788920" cy="47548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16128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Transformação &amp;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73736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dbt (data build tool)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03911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SQL versionado no Git — Silver→Gold, testes automáticos, lineage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9748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Great Expectations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99923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Valida not_null, in_range, unique antes de cada camada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65760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XGBoost + MLflow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5935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Robusto para séries temporais tabulares — rastreia versões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1143000"/>
            <a:ext cx="2788920" cy="5257800"/>
          </a:xfrm>
          <a:prstGeom prst="rect">
            <a:avLst/>
          </a:prstGeom>
          <a:solidFill>
            <a:srgbClr val="122642"/>
          </a:solidFill>
          <a:ln w="9525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235440" y="1143000"/>
            <a:ext cx="2788920" cy="475488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08592" y="1161288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Orquestração &amp; Entrega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73736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03911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DAGs Python — retry com backoff exp., maior ecossistema de operadores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69748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Flask API 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299923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Endpoint /predict — latência alvo &lt; 500 ms para score MotoAR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657600"/>
            <a:ext cx="2514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Metabase + Grafana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3959352"/>
            <a:ext cx="2514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Dashboards analíticos Gold + alertas SLA em tempo real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4008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728A"/>
                </a:solidFill>
              </a:rPr>
              <a:t>Governança: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7400" y="6355080"/>
            <a:ext cx="1901952" cy="47548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121408" y="637336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728A"/>
                </a:solidFill>
              </a:rPr>
              <a:t>Great Expectations — Qualidade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87368" y="6355080"/>
            <a:ext cx="1901952" cy="47548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51376" y="637336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728A"/>
                </a:solidFill>
              </a:rPr>
              <a:t>Delta Lake time travel — Rastreabilidade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17336" y="6355080"/>
            <a:ext cx="1901952" cy="47548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81344" y="637336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728A"/>
                </a:solidFill>
              </a:rPr>
              <a:t>dbt docs + lineage — Lineage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47304" y="6355080"/>
            <a:ext cx="1901952" cy="47548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11312" y="637336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728A"/>
                </a:solidFill>
              </a:rPr>
              <a:t>Grafana + Prometheus — Observab.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77272" y="6355080"/>
            <a:ext cx="1901952" cy="475488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241280" y="637336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728A"/>
                </a:solidFill>
              </a:rPr>
              <a:t>Docker Compose — Portabilidade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Análise Exploratória de Dados (EDA)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45.061 registros · INMET 2025 · IQAir março/2026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39496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54864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88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PM2.5 — INMET Fercal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PM2.5 médio 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653"/>
                </a:solidFill>
              </a:rPr>
              <a:t>11,55 µg/m³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042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Desvio padrão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04288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11,91 µg/m³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797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Pico máximo (out/25)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79776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2222"/>
                </a:solidFill>
              </a:rPr>
              <a:t>156,9 µg/m³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5526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Mediana (P50)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255264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653"/>
                </a:solidFill>
              </a:rPr>
              <a:t>7,32 µg/m³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307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P95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730752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35,66 µg/m³ — Ruim (OMS)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06240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2222"/>
                </a:solidFill>
              </a:rPr>
              <a:t>54,44 µg/m³ — Perigoso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81727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DC8E4"/>
                </a:solidFill>
              </a:rPr>
              <a:t>Estação seca vs chuvosa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681727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5,3× maior (22,3 vs 4,2 µg/m³)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143000"/>
            <a:ext cx="557784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26480" y="1261872"/>
            <a:ext cx="5486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36792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35"/>
                </a:solidFill>
              </a:rPr>
              <a:t>Achados-Chave para o Modelo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184708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📈 Duplo pico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1488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7–9h (tráfego) e 19–21h (inversão térmica) → features cíclicas seno/cosseno da hora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65176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🌧️ Efeito da chuva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95351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Dias com &gt; 5mm de chuva → redução de 34% no PM2.5 → feature chuva acumulada 6h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5643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📍 Heterogeneidade espacial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3758183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UnB Gama: AQI 13,4 vs Finatec: 7,8 → spread 70% → expansão de sensores prioritária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26110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🔗 Correlação PM2.5 × NO2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56285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r = 0,47 · na estação seca NO2 explica 60% da variância → input do modelo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506577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⚠️ Sensor frozen flag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6792" y="5367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32.255 registros sinalizados (IQAir) → alerta de qualidade, não remoção imediata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Trade-offs da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Acoplamento · Escalabilidade · Disponibilidade · Confiabilidade · Reversibilidade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2240280" cy="4983480"/>
          </a:xfrm>
          <a:prstGeom prst="rect">
            <a:avLst/>
          </a:prstGeom>
          <a:solidFill>
            <a:srgbClr val="122642"/>
          </a:solidFill>
          <a:ln w="9525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224028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59" y="120700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Acoplamento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79" y="1737360"/>
            <a:ext cx="2029968" cy="2286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17373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653"/>
                </a:solidFill>
              </a:rPr>
              <a:t>✓ Vantagem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993392"/>
            <a:ext cx="1993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Domínios independentes (DDD) — mudança em um domínio não impacta outros.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79" y="3401568"/>
            <a:ext cx="2029968" cy="228600"/>
          </a:xfrm>
          <a:prstGeom prst="rect">
            <a:avLst/>
          </a:prstGeom>
          <a:solidFill>
            <a:srgbClr val="4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C518"/>
                </a:solidFill>
              </a:rPr>
              <a:t>⚠ Risco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3657600"/>
            <a:ext cx="199339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Requer contratos claros de dados entre domínios.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1188720"/>
            <a:ext cx="2240280" cy="4983480"/>
          </a:xfrm>
          <a:prstGeom prst="rect">
            <a:avLst/>
          </a:prstGeom>
          <a:solidFill>
            <a:srgbClr val="122642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79192" y="1188720"/>
            <a:ext cx="2240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24912" y="120700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Escalabilidade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737360"/>
            <a:ext cx="2029968" cy="2286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88920" y="17373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653"/>
                </a:solidFill>
              </a:rPr>
              <a:t>✓ Vantagem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1993392"/>
            <a:ext cx="1993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MinIO + Spark escalam horizontalmente; Delta Lake suporta volume crescente.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3401568"/>
            <a:ext cx="2029968" cy="228600"/>
          </a:xfrm>
          <a:prstGeom prst="rect">
            <a:avLst/>
          </a:prstGeom>
          <a:solidFill>
            <a:srgbClr val="4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88920" y="34015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C518"/>
                </a:solidFill>
              </a:rPr>
              <a:t>⚠ Risco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657600"/>
            <a:ext cx="199339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Ambiente local tem limite de RAM/CPU para Spark local mode.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38344" y="1188720"/>
            <a:ext cx="2240280" cy="4983480"/>
          </a:xfrm>
          <a:prstGeom prst="rect">
            <a:avLst/>
          </a:prstGeom>
          <a:solidFill>
            <a:srgbClr val="122642"/>
          </a:solidFill>
          <a:ln w="9525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38344" y="1188720"/>
            <a:ext cx="2240280" cy="457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84064" y="120700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Disponibilidade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9783" y="1737360"/>
            <a:ext cx="2029968" cy="2286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48072" y="17373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653"/>
                </a:solidFill>
              </a:rPr>
              <a:t>✓ Vantagem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8072" y="1993392"/>
            <a:ext cx="1993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Retry automático no Airflow; Delta Lake evita corrompimento em falha de escrita.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9783" y="3401568"/>
            <a:ext cx="2029968" cy="228600"/>
          </a:xfrm>
          <a:prstGeom prst="rect">
            <a:avLst/>
          </a:prstGeom>
          <a:solidFill>
            <a:srgbClr val="4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48072" y="34015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C518"/>
                </a:solidFill>
              </a:rPr>
              <a:t>⚠ Risco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8072" y="3657600"/>
            <a:ext cx="199339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APIs externas (IQAir, INMET) sem garantia de SLA 99,9%.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97496" y="1188720"/>
            <a:ext cx="2240280" cy="4983480"/>
          </a:xfrm>
          <a:prstGeom prst="rect">
            <a:avLst/>
          </a:prstGeom>
          <a:solidFill>
            <a:srgbClr val="122642"/>
          </a:solidFill>
          <a:ln w="9525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397496" y="1188720"/>
            <a:ext cx="2240280" cy="457200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43216" y="120700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71122"/>
                </a:solidFill>
              </a:rPr>
              <a:t>Confiabilidade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88936" y="1737360"/>
            <a:ext cx="2029968" cy="2286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07223" y="17373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653"/>
                </a:solidFill>
              </a:rPr>
              <a:t>✓ Vantagem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7223" y="1993392"/>
            <a:ext cx="1993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ACID via Delta Lake + Great Expectations bloqueiam dados inválidos na entrada.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88936" y="3401568"/>
            <a:ext cx="2029968" cy="228600"/>
          </a:xfrm>
          <a:prstGeom prst="rect">
            <a:avLst/>
          </a:prstGeom>
          <a:solidFill>
            <a:srgbClr val="4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07223" y="34015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C518"/>
                </a:solidFill>
              </a:rPr>
              <a:t>⚠ Risco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07223" y="3657600"/>
            <a:ext cx="199339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Open-Meteo forecast pode ter desvio em eventos climáticos extremos.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56648" y="1188720"/>
            <a:ext cx="2240280" cy="4983480"/>
          </a:xfrm>
          <a:prstGeom prst="rect">
            <a:avLst/>
          </a:prstGeom>
          <a:solidFill>
            <a:srgbClr val="122642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756648" y="1188720"/>
            <a:ext cx="224028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02368" y="120700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Reversibilidade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48088" y="1737360"/>
            <a:ext cx="2029968" cy="2286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866376" y="17373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653"/>
                </a:solidFill>
              </a:rPr>
              <a:t>✓ Vantagem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66376" y="1993392"/>
            <a:ext cx="1993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Time travel Delta Lake permite rollback a qualquer versão; dbt versionado no Git.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48088" y="3401568"/>
            <a:ext cx="2029968" cy="228600"/>
          </a:xfrm>
          <a:prstGeom prst="rect">
            <a:avLst/>
          </a:prstGeom>
          <a:solidFill>
            <a:srgbClr val="4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866376" y="34015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C518"/>
                </a:solidFill>
              </a:rPr>
              <a:t>⚠ Risco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66376" y="3657600"/>
            <a:ext cx="1993392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Reprocessamento de grandes volumes pode ser lento em hardware limitado.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4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64592"/>
            <a:ext cx="54864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Considerações Finais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8E4"/>
                </a:solidFill>
              </a:rPr>
              <a:t>Riscos · Limitações · Próximos Passos — Parte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48640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54864" cy="502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CA5A5"/>
                </a:solidFill>
              </a:rPr>
              <a:t>Principais Riscos e Limitações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APIs externas sem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80136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CA5A5"/>
                </a:solidFill>
              </a:rPr>
              <a:t>IQAir/INMET podem ficar fora do 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0136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Cache da última leitura + retry Airflow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9572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RAM em Spark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3957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CA5A5"/>
                </a:solidFill>
              </a:rPr>
              <a:t>Até 8 GB para os volumes atuais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39572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Pandas para vol. pequenos em 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9008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Cobertura espacial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299008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CA5A5"/>
                </a:solidFill>
              </a:rPr>
              <a:t>4 sensores só cobrem partes de BSB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99008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Priorizar expansão para cidades satélites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Dados de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58444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CA5A5"/>
                </a:solidFill>
              </a:rPr>
              <a:t>El Niño/eventos extremos em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8444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Monitorar desvio do modelo mensalmente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7880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Complexidade dbt+Spark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417880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CA5A5"/>
                </a:solidFill>
              </a:rPr>
              <a:t>Curva de aprendizado steep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17880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C8E4"/>
                </a:solidFill>
              </a:rPr>
              <a:t>DuckDB local para dev de modelos dbt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532120" cy="5047488"/>
          </a:xfrm>
          <a:prstGeom prst="rect">
            <a:avLst/>
          </a:prstGeom>
          <a:solidFill>
            <a:srgbClr val="122642"/>
          </a:solidFill>
          <a:ln w="9525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1261872"/>
            <a:ext cx="54864" cy="502920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11887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C653"/>
                </a:solidFill>
              </a:rPr>
              <a:t>Próximos Passos — Parte 2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1837943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81928" y="184708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1801368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Docker Compose: MinIO, Spark, Airflow, Grafana + dados sintéticos para teste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2459736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81928" y="2468879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423160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Clientes API (IQAir, INMET, Open-Meteo) + schema validation + Bronze Delta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081528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81928" y="3090672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2–3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2552" y="3044952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PySpark jobs Bronze→Silver + Great Expectations automático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3703320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81928" y="3712463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2552" y="3666744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Modelos dbt Silver→Gold (86 features) + testes + lineage completo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4325112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81928" y="4334255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02552" y="4288536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DAGs Airflow batch + alertas Grafana + Metabase dashboards</a:t>
            </a:r>
          </a:p>
        </p:txBody>
      </p:sp>
      <p:sp>
        <p:nvSpPr>
          <p:cNvPr id="43" name="Oval 42"/>
          <p:cNvSpPr/>
          <p:nvPr/>
        </p:nvSpPr>
        <p:spPr>
          <a:xfrm>
            <a:off x="6263640" y="4946903"/>
            <a:ext cx="329184" cy="329184"/>
          </a:xfrm>
          <a:prstGeom prst="ellipse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81928" y="4956047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71122"/>
                </a:solidFill>
              </a:rPr>
              <a:t>Sem.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2552" y="4910327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C8E4"/>
                </a:solidFill>
              </a:rPr>
              <a:t>Flask API /predict + XGBoost + latência &lt; 500 ms validada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5577840"/>
            <a:ext cx="5532120" cy="512064"/>
          </a:xfrm>
          <a:prstGeom prst="rect">
            <a:avLst/>
          </a:prstGeom>
          <a:solidFill>
            <a:srgbClr val="06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63640" y="5605272"/>
            <a:ext cx="5349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C653"/>
                </a:solidFill>
              </a:rPr>
              <a:t>✓  Critério: pipeline diário OK · Gold 100% testado · Flask &lt; 500ms · Grafana detecta anomalias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31752" y="6537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728A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6858000" cy="6858000"/>
          </a:xfrm>
          <a:prstGeom prst="ellipse">
            <a:avLst/>
          </a:prstGeom>
          <a:solidFill>
            <a:srgbClr val="005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0" y="-1371600"/>
            <a:ext cx="6858000" cy="6858000"/>
          </a:xfrm>
          <a:prstGeom prst="ellipse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961120" y="-640080"/>
            <a:ext cx="5303520" cy="5303520"/>
          </a:xfrm>
          <a:prstGeom prst="ellipse">
            <a:avLst/>
          </a:prstGeom>
          <a:solidFill>
            <a:srgbClr val="0D2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07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-1097280" y="3931920"/>
            <a:ext cx="3566160" cy="3566160"/>
          </a:xfrm>
          <a:prstGeom prst="ellipse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137160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MotoAR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51760"/>
            <a:ext cx="9418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ADC8E4"/>
                </a:solidFill>
              </a:rPr>
              <a:t>Qualidade do Ar · Proteção ao Motociclista · Brasília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383280"/>
            <a:ext cx="2148840" cy="484632"/>
          </a:xfrm>
          <a:prstGeom prst="rect">
            <a:avLst/>
          </a:prstGeom>
          <a:solidFill>
            <a:srgbClr val="122642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3410712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</a:rPr>
              <a:t>Arquitetura Medalhão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3383280"/>
            <a:ext cx="2148840" cy="484632"/>
          </a:xfrm>
          <a:prstGeom prst="rect">
            <a:avLst/>
          </a:prstGeom>
          <a:solidFill>
            <a:srgbClr val="122642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16936" y="3410712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</a:rPr>
              <a:t>Delta Lake ACID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3383280"/>
            <a:ext cx="2148840" cy="484632"/>
          </a:xfrm>
          <a:prstGeom prst="rect">
            <a:avLst/>
          </a:prstGeom>
          <a:solidFill>
            <a:srgbClr val="122642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75504" y="3410712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</a:rPr>
              <a:t>XGBoost + MLflow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3383280"/>
            <a:ext cx="2148840" cy="484632"/>
          </a:xfrm>
          <a:prstGeom prst="rect">
            <a:avLst/>
          </a:prstGeom>
          <a:solidFill>
            <a:srgbClr val="122642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34072" y="3410712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</a:rPr>
              <a:t>dbt + Airflow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28632" y="3383280"/>
            <a:ext cx="2148840" cy="484632"/>
          </a:xfrm>
          <a:prstGeom prst="rect">
            <a:avLst/>
          </a:prstGeom>
          <a:solidFill>
            <a:srgbClr val="122642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0" y="3410712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</a:rPr>
              <a:t>Open-Source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51960"/>
            <a:ext cx="9418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6B35"/>
                </a:solidFill>
              </a:rPr>
              <a:t>Obrigado!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212080"/>
            <a:ext cx="9418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DC8E4"/>
                </a:solidFill>
              </a:rPr>
              <a:t>Alessandra </a:t>
            </a:r>
            <a:r>
              <a:rPr lang="pt-BR" sz="1600" dirty="0">
                <a:solidFill>
                  <a:srgbClr val="ADC8E4"/>
                </a:solidFill>
              </a:rPr>
              <a:t>Gonçalves</a:t>
            </a:r>
            <a:r>
              <a:rPr sz="1600" b="0" i="0" dirty="0">
                <a:solidFill>
                  <a:srgbClr val="ADC8E4"/>
                </a:solidFill>
              </a:rPr>
              <a:t> · Luiz Henrique · Rafael</a:t>
            </a:r>
            <a:r>
              <a:rPr lang="pt-BR" sz="1600" b="0" i="0">
                <a:solidFill>
                  <a:srgbClr val="ADC8E4"/>
                </a:solidFill>
              </a:rPr>
              <a:t> Mascarenhas</a:t>
            </a:r>
            <a:endParaRPr sz="1600" b="0" i="0" dirty="0">
              <a:solidFill>
                <a:srgbClr val="ADC8E4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371600" y="56509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728A"/>
                </a:solidFill>
              </a:rPr>
              <a:t>UniCEUB — Engenharia de Dados · Prof. Luis Carlos Cardoso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1443</Words>
  <Application>Microsoft Office PowerPoint</Application>
  <PresentationFormat>Personalizar</PresentationFormat>
  <Paragraphs>302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Alessandra Souza Gonçalves</dc:creator>
  <cp:keywords/>
  <dc:description>generated using python-pptx</dc:description>
  <cp:lastModifiedBy>Alessandra Souza Gonçalves</cp:lastModifiedBy>
  <cp:revision>2</cp:revision>
  <dcterms:created xsi:type="dcterms:W3CDTF">2013-01-27T09:14:16Z</dcterms:created>
  <dcterms:modified xsi:type="dcterms:W3CDTF">2026-04-30T00:53:55Z</dcterms:modified>
  <cp:category/>
</cp:coreProperties>
</file>