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iSCOtvjJVD3U8W6/xfuMAPKAgV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8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772400" y="-1371600"/>
            <a:ext cx="6400800" cy="6400800"/>
          </a:xfrm>
          <a:prstGeom prst="ellipse">
            <a:avLst/>
          </a:prstGeom>
          <a:solidFill>
            <a:srgbClr val="005F8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7772400" y="-1371600"/>
            <a:ext cx="6400800" cy="6400800"/>
          </a:xfrm>
          <a:prstGeom prst="ellipse">
            <a:avLst/>
          </a:prstGeom>
          <a:solidFill>
            <a:srgbClr val="07112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8412480" y="-731520"/>
            <a:ext cx="5029200" cy="5029200"/>
          </a:xfrm>
          <a:prstGeom prst="ellipse">
            <a:avLst/>
          </a:prstGeom>
          <a:solidFill>
            <a:srgbClr val="0D2B5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FF6B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7112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-731520" y="4754880"/>
            <a:ext cx="3200400" cy="3200400"/>
          </a:xfrm>
          <a:prstGeom prst="ellipse">
            <a:avLst/>
          </a:prstGeom>
          <a:solidFill>
            <a:srgbClr val="1A2A3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097280" y="1234440"/>
            <a:ext cx="2011680" cy="411480"/>
          </a:xfrm>
          <a:prstGeom prst="rect">
            <a:avLst/>
          </a:prstGeom>
          <a:solidFill>
            <a:srgbClr val="2DC6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143000" y="126187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🌿  AQI — Boa qualidade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1097280" y="1737360"/>
            <a:ext cx="1005840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MotoAR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1097280" y="333756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Plataforma de Qualidade do Ar para Motociclistas de Brasília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1097280" y="388620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Planejamento Arquitetural — Parte 1</a:t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0" y="5577840"/>
            <a:ext cx="12188952" cy="1280160"/>
          </a:xfrm>
          <a:prstGeom prst="rect">
            <a:avLst/>
          </a:prstGeom>
          <a:solidFill>
            <a:srgbClr val="040B1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097280" y="5715000"/>
            <a:ext cx="64008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Alessandra </a:t>
            </a:r>
            <a:r>
              <a:rPr lang="en-US" dirty="0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Gonçalves </a:t>
            </a:r>
            <a:r>
              <a:rPr lang="en-US" sz="1400" b="0" i="0" u="none" strike="noStrike" cap="none" dirty="0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· Luiz Henrique · Rafael </a:t>
            </a:r>
            <a:r>
              <a:rPr lang="en-US" sz="1400" b="0" i="0" u="none" strike="noStrike" cap="none" dirty="0" err="1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Anadrade</a:t>
            </a:r>
            <a:endParaRPr dirty="0"/>
          </a:p>
        </p:txBody>
      </p:sp>
      <p:sp>
        <p:nvSpPr>
          <p:cNvPr id="99" name="Google Shape;99;p1"/>
          <p:cNvSpPr txBox="1"/>
          <p:nvPr/>
        </p:nvSpPr>
        <p:spPr>
          <a:xfrm>
            <a:off x="1097280" y="608076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UniCEUB — Engenharia de Dados · 2026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7616952" y="589788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Prof. Luis Carlos Cardoso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40B1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502920" y="164592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685800" y="13716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502920" y="1188720"/>
            <a:ext cx="5577840" cy="713232"/>
          </a:xfrm>
          <a:prstGeom prst="rect">
            <a:avLst/>
          </a:prstGeom>
          <a:solidFill>
            <a:srgbClr val="122642"/>
          </a:solidFill>
          <a:ln w="9525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612648" y="1316736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612648" y="1325880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1188720" y="127101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Descrição do Projeto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1188720" y="1591056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Contexto, problema e stakeholders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6309360" y="1188720"/>
            <a:ext cx="5577840" cy="713232"/>
          </a:xfrm>
          <a:prstGeom prst="rect">
            <a:avLst/>
          </a:prstGeom>
          <a:solidFill>
            <a:srgbClr val="122642"/>
          </a:solidFill>
          <a:ln w="9525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6419088" y="1316736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6419088" y="1325880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6995160" y="127101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Classificação dos Dados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6995160" y="1591056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Fontes · Formatos · 45.061 registros reais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502920" y="2011680"/>
            <a:ext cx="5577840" cy="713232"/>
          </a:xfrm>
          <a:prstGeom prst="rect">
            <a:avLst/>
          </a:prstGeom>
          <a:solidFill>
            <a:srgbClr val="122642"/>
          </a:solidFill>
          <a:ln w="9525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612648" y="2139696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612648" y="2148840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1188720" y="209397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Domínios e Serviços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1188720" y="2414016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5 domínios DDD + serviços compartilhados</a:t>
            </a:r>
            <a:endParaRPr/>
          </a:p>
        </p:txBody>
      </p:sp>
      <p:sp>
        <p:nvSpPr>
          <p:cNvPr id="124" name="Google Shape;124;p2"/>
          <p:cNvSpPr/>
          <p:nvPr/>
        </p:nvSpPr>
        <p:spPr>
          <a:xfrm>
            <a:off x="6309360" y="2011680"/>
            <a:ext cx="5577840" cy="713232"/>
          </a:xfrm>
          <a:prstGeom prst="rect">
            <a:avLst/>
          </a:prstGeom>
          <a:solidFill>
            <a:srgbClr val="122642"/>
          </a:solidFill>
          <a:ln w="9525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6419088" y="2139696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6419088" y="2148840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6995160" y="209397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Arquitetura Medalhão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6995160" y="2414016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Bronze → Silver → Gold · Delta Lake</a:t>
            </a:r>
            <a:endParaRPr/>
          </a:p>
        </p:txBody>
      </p:sp>
      <p:sp>
        <p:nvSpPr>
          <p:cNvPr id="129" name="Google Shape;129;p2"/>
          <p:cNvSpPr/>
          <p:nvPr/>
        </p:nvSpPr>
        <p:spPr>
          <a:xfrm>
            <a:off x="502920" y="2834640"/>
            <a:ext cx="5577840" cy="713232"/>
          </a:xfrm>
          <a:prstGeom prst="rect">
            <a:avLst/>
          </a:prstGeom>
          <a:solidFill>
            <a:srgbClr val="122642"/>
          </a:solidFill>
          <a:ln w="9525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612648" y="2962656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612648" y="2971800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1188720" y="291693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Tecnologias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1188720" y="3236976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Stack open-source justificada</a:t>
            </a:r>
            <a:endParaRPr/>
          </a:p>
        </p:txBody>
      </p:sp>
      <p:sp>
        <p:nvSpPr>
          <p:cNvPr id="134" name="Google Shape;134;p2"/>
          <p:cNvSpPr/>
          <p:nvPr/>
        </p:nvSpPr>
        <p:spPr>
          <a:xfrm>
            <a:off x="6309360" y="2834640"/>
            <a:ext cx="5577840" cy="713232"/>
          </a:xfrm>
          <a:prstGeom prst="rect">
            <a:avLst/>
          </a:prstGeom>
          <a:solidFill>
            <a:srgbClr val="122642"/>
          </a:solidFill>
          <a:ln w="9525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6419088" y="2962656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6419088" y="2971800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6995160" y="291693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EDA &amp; Considerações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6995160" y="3236976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Análise exploratória + riscos + Parte 2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40B1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502920" y="164592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685800" y="13716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Descrição do Projeto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685800" y="640080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Contexto · Problema · Stakeholders</a:t>
            </a:r>
            <a:endParaRPr/>
          </a:p>
        </p:txBody>
      </p:sp>
      <p:sp>
        <p:nvSpPr>
          <p:cNvPr id="149" name="Google Shape;149;p3"/>
          <p:cNvSpPr/>
          <p:nvPr/>
        </p:nvSpPr>
        <p:spPr>
          <a:xfrm>
            <a:off x="457200" y="1143000"/>
            <a:ext cx="5394960" cy="5047488"/>
          </a:xfrm>
          <a:prstGeom prst="rect">
            <a:avLst/>
          </a:prstGeom>
          <a:solidFill>
            <a:srgbClr val="122642"/>
          </a:solidFill>
          <a:ln w="9525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457200" y="1261872"/>
            <a:ext cx="54864" cy="54864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667512" y="118872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O Problema</a:t>
            </a:r>
            <a:endParaRPr/>
          </a:p>
        </p:txBody>
      </p:sp>
      <p:sp>
        <p:nvSpPr>
          <p:cNvPr id="152" name="Google Shape;152;p3"/>
          <p:cNvSpPr txBox="1"/>
          <p:nvPr/>
        </p:nvSpPr>
        <p:spPr>
          <a:xfrm>
            <a:off x="640080" y="1828800"/>
            <a:ext cx="4937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🏍️  +500 mil motos em Brasília — exposição direta ao ar</a:t>
            </a:r>
            <a:endParaRPr/>
          </a:p>
        </p:txBody>
      </p:sp>
      <p:sp>
        <p:nvSpPr>
          <p:cNvPr id="153" name="Google Shape;153;p3"/>
          <p:cNvSpPr txBox="1"/>
          <p:nvPr/>
        </p:nvSpPr>
        <p:spPr>
          <a:xfrm>
            <a:off x="640080" y="2377440"/>
            <a:ext cx="4937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🌫️  PM2.5 pode ser 5× maior na estiagem (4–6 meses/ano)</a:t>
            </a:r>
            <a:endParaRPr/>
          </a:p>
        </p:txBody>
      </p:sp>
      <p:sp>
        <p:nvSpPr>
          <p:cNvPr id="154" name="Google Shape;154;p3"/>
          <p:cNvSpPr txBox="1"/>
          <p:nvPr/>
        </p:nvSpPr>
        <p:spPr>
          <a:xfrm>
            <a:off x="640080" y="2926080"/>
            <a:ext cx="4937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📵  Nenhuma ferramenta pública integra poluição + EPI</a:t>
            </a:r>
            <a:endParaRPr/>
          </a:p>
        </p:txBody>
      </p:sp>
      <p:sp>
        <p:nvSpPr>
          <p:cNvPr id="155" name="Google Shape;155;p3"/>
          <p:cNvSpPr txBox="1"/>
          <p:nvPr/>
        </p:nvSpPr>
        <p:spPr>
          <a:xfrm>
            <a:off x="640080" y="3474720"/>
            <a:ext cx="4937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📍  Lacuna real: decisão de proteção sem dados acessíveis</a:t>
            </a:r>
            <a:endParaRPr/>
          </a:p>
        </p:txBody>
      </p:sp>
      <p:sp>
        <p:nvSpPr>
          <p:cNvPr id="156" name="Google Shape;156;p3"/>
          <p:cNvSpPr txBox="1"/>
          <p:nvPr/>
        </p:nvSpPr>
        <p:spPr>
          <a:xfrm>
            <a:off x="667512" y="3977639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Objetivos Principais</a:t>
            </a:r>
            <a:endParaRPr/>
          </a:p>
        </p:txBody>
      </p:sp>
      <p:sp>
        <p:nvSpPr>
          <p:cNvPr id="157" name="Google Shape;157;p3"/>
          <p:cNvSpPr txBox="1"/>
          <p:nvPr/>
        </p:nvSpPr>
        <p:spPr>
          <a:xfrm>
            <a:off x="640080" y="4389120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Coletar dados de qualidade do ar (IQAir, INMET, Open-Meteo)</a:t>
            </a:r>
            <a:endParaRPr/>
          </a:p>
        </p:txBody>
      </p:sp>
      <p:sp>
        <p:nvSpPr>
          <p:cNvPr id="158" name="Google Shape;158;p3"/>
          <p:cNvSpPr txBox="1"/>
          <p:nvPr/>
        </p:nvSpPr>
        <p:spPr>
          <a:xfrm>
            <a:off x="640080" y="4791456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Pipeline robusto e rastreável com Arquitetura Medalhão</a:t>
            </a:r>
            <a:endParaRPr/>
          </a:p>
        </p:txBody>
      </p:sp>
      <p:sp>
        <p:nvSpPr>
          <p:cNvPr id="159" name="Google Shape;159;p3"/>
          <p:cNvSpPr txBox="1"/>
          <p:nvPr/>
        </p:nvSpPr>
        <p:spPr>
          <a:xfrm>
            <a:off x="640080" y="5193792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Score MotoAR 0–100 com previsão para as próximas 6h</a:t>
            </a:r>
            <a:endParaRPr/>
          </a:p>
        </p:txBody>
      </p:sp>
      <p:sp>
        <p:nvSpPr>
          <p:cNvPr id="160" name="Google Shape;160;p3"/>
          <p:cNvSpPr txBox="1"/>
          <p:nvPr/>
        </p:nvSpPr>
        <p:spPr>
          <a:xfrm>
            <a:off x="640080" y="5596128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Recomendações práticas de EPI ao motociclista</a:t>
            </a: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6126480" y="1143000"/>
            <a:ext cx="5577840" cy="5047488"/>
          </a:xfrm>
          <a:prstGeom prst="rect">
            <a:avLst/>
          </a:prstGeom>
          <a:solidFill>
            <a:srgbClr val="122642"/>
          </a:solidFill>
          <a:ln w="9525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6126480" y="1261872"/>
            <a:ext cx="54864" cy="5486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 txBox="1"/>
          <p:nvPr/>
        </p:nvSpPr>
        <p:spPr>
          <a:xfrm>
            <a:off x="6336792" y="118872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Stakeholders</a:t>
            </a:r>
            <a:endParaRPr/>
          </a:p>
        </p:txBody>
      </p:sp>
      <p:sp>
        <p:nvSpPr>
          <p:cNvPr id="164" name="Google Shape;164;p3"/>
          <p:cNvSpPr txBox="1"/>
          <p:nvPr/>
        </p:nvSpPr>
        <p:spPr>
          <a:xfrm>
            <a:off x="6336792" y="182880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Motociclistas urbanos</a:t>
            </a:r>
            <a:endParaRPr/>
          </a:p>
        </p:txBody>
      </p:sp>
      <p:sp>
        <p:nvSpPr>
          <p:cNvPr id="165" name="Google Shape;165;p3"/>
          <p:cNvSpPr txBox="1"/>
          <p:nvPr/>
        </p:nvSpPr>
        <p:spPr>
          <a:xfrm>
            <a:off x="8732520" y="1828800"/>
            <a:ext cx="28346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Usuário final — score + recomendação de EPI</a:t>
            </a:r>
            <a:endParaRPr/>
          </a:p>
        </p:txBody>
      </p:sp>
      <p:sp>
        <p:nvSpPr>
          <p:cNvPr id="166" name="Google Shape;166;p3"/>
          <p:cNvSpPr txBox="1"/>
          <p:nvPr/>
        </p:nvSpPr>
        <p:spPr>
          <a:xfrm>
            <a:off x="6336792" y="245059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Pesquisadores / Saúde</a:t>
            </a:r>
            <a:endParaRPr/>
          </a:p>
        </p:txBody>
      </p:sp>
      <p:sp>
        <p:nvSpPr>
          <p:cNvPr id="167" name="Google Shape;167;p3"/>
          <p:cNvSpPr txBox="1"/>
          <p:nvPr/>
        </p:nvSpPr>
        <p:spPr>
          <a:xfrm>
            <a:off x="8732520" y="2450592"/>
            <a:ext cx="28346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Dados históricos e painel de exposição por região</a:t>
            </a:r>
            <a:endParaRPr/>
          </a:p>
        </p:txBody>
      </p:sp>
      <p:sp>
        <p:nvSpPr>
          <p:cNvPr id="168" name="Google Shape;168;p3"/>
          <p:cNvSpPr txBox="1"/>
          <p:nvPr/>
        </p:nvSpPr>
        <p:spPr>
          <a:xfrm>
            <a:off x="6336792" y="307238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Equipe do projeto</a:t>
            </a:r>
            <a:endParaRPr/>
          </a:p>
        </p:txBody>
      </p:sp>
      <p:sp>
        <p:nvSpPr>
          <p:cNvPr id="169" name="Google Shape;169;p3"/>
          <p:cNvSpPr txBox="1"/>
          <p:nvPr/>
        </p:nvSpPr>
        <p:spPr>
          <a:xfrm>
            <a:off x="8732520" y="3072384"/>
            <a:ext cx="28346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Pipeline, modelo e manutenção da plataforma</a:t>
            </a:r>
            <a:endParaRPr/>
          </a:p>
        </p:txBody>
      </p:sp>
      <p:sp>
        <p:nvSpPr>
          <p:cNvPr id="170" name="Google Shape;170;p3"/>
          <p:cNvSpPr txBox="1"/>
          <p:nvPr/>
        </p:nvSpPr>
        <p:spPr>
          <a:xfrm>
            <a:off x="6336792" y="369417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Gestores públicos</a:t>
            </a:r>
            <a:endParaRPr/>
          </a:p>
        </p:txBody>
      </p:sp>
      <p:sp>
        <p:nvSpPr>
          <p:cNvPr id="171" name="Google Shape;171;p3"/>
          <p:cNvSpPr txBox="1"/>
          <p:nvPr/>
        </p:nvSpPr>
        <p:spPr>
          <a:xfrm>
            <a:off x="8732520" y="3694176"/>
            <a:ext cx="28346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Evidências para política de mobilidade em Brasília</a:t>
            </a:r>
            <a:endParaRPr/>
          </a:p>
        </p:txBody>
      </p:sp>
      <p:sp>
        <p:nvSpPr>
          <p:cNvPr id="172" name="Google Shape;172;p3"/>
          <p:cNvSpPr txBox="1"/>
          <p:nvPr/>
        </p:nvSpPr>
        <p:spPr>
          <a:xfrm>
            <a:off x="6336792" y="431596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Prof. / UniCEUB</a:t>
            </a:r>
            <a:endParaRPr/>
          </a:p>
        </p:txBody>
      </p:sp>
      <p:sp>
        <p:nvSpPr>
          <p:cNvPr id="173" name="Google Shape;173;p3"/>
          <p:cNvSpPr txBox="1"/>
          <p:nvPr/>
        </p:nvSpPr>
        <p:spPr>
          <a:xfrm>
            <a:off x="8732520" y="4315968"/>
            <a:ext cx="28346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Avaliação do ciclo de vida de eng. de dados</a:t>
            </a:r>
            <a:endParaRPr/>
          </a:p>
        </p:txBody>
      </p:sp>
      <p:sp>
        <p:nvSpPr>
          <p:cNvPr id="174" name="Google Shape;174;p3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40B1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502920" y="164592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 txBox="1"/>
          <p:nvPr/>
        </p:nvSpPr>
        <p:spPr>
          <a:xfrm>
            <a:off x="685800" y="13716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Definição e Classificação dos Dados</a:t>
            </a:r>
            <a:endParaRPr/>
          </a:p>
        </p:txBody>
      </p:sp>
      <p:sp>
        <p:nvSpPr>
          <p:cNvPr id="183" name="Google Shape;183;p4"/>
          <p:cNvSpPr txBox="1"/>
          <p:nvPr/>
        </p:nvSpPr>
        <p:spPr>
          <a:xfrm>
            <a:off x="685800" y="640080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Fontes · Formatos · Volumes · 45.061 registros reais</a:t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457200" y="1143000"/>
            <a:ext cx="5394960" cy="3840480"/>
          </a:xfrm>
          <a:prstGeom prst="rect">
            <a:avLst/>
          </a:prstGeom>
          <a:solidFill>
            <a:srgbClr val="122642"/>
          </a:solidFill>
          <a:ln w="9525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457200" y="1143000"/>
            <a:ext cx="5394960" cy="5486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 txBox="1"/>
          <p:nvPr/>
        </p:nvSpPr>
        <p:spPr>
          <a:xfrm>
            <a:off x="594360" y="1170432"/>
            <a:ext cx="51663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📦  Dados Operacionais / Históricos (Batch)</a:t>
            </a:r>
            <a:endParaRPr/>
          </a:p>
        </p:txBody>
      </p:sp>
      <p:sp>
        <p:nvSpPr>
          <p:cNvPr id="187" name="Google Shape;187;p4"/>
          <p:cNvSpPr txBox="1"/>
          <p:nvPr/>
        </p:nvSpPr>
        <p:spPr>
          <a:xfrm>
            <a:off x="548640" y="184708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Fonte</a:t>
            </a:r>
            <a:endParaRPr/>
          </a:p>
        </p:txBody>
      </p:sp>
      <p:sp>
        <p:nvSpPr>
          <p:cNvPr id="188" name="Google Shape;188;p4"/>
          <p:cNvSpPr txBox="1"/>
          <p:nvPr/>
        </p:nvSpPr>
        <p:spPr>
          <a:xfrm>
            <a:off x="1691640" y="184708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Parâm.</a:t>
            </a:r>
            <a:endParaRPr/>
          </a:p>
        </p:txBody>
      </p:sp>
      <p:sp>
        <p:nvSpPr>
          <p:cNvPr id="189" name="Google Shape;189;p4"/>
          <p:cNvSpPr txBox="1"/>
          <p:nvPr/>
        </p:nvSpPr>
        <p:spPr>
          <a:xfrm>
            <a:off x="2743200" y="184708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Volume</a:t>
            </a:r>
            <a:endParaRPr/>
          </a:p>
        </p:txBody>
      </p:sp>
      <p:sp>
        <p:nvSpPr>
          <p:cNvPr id="190" name="Google Shape;190;p4"/>
          <p:cNvSpPr txBox="1"/>
          <p:nvPr/>
        </p:nvSpPr>
        <p:spPr>
          <a:xfrm>
            <a:off x="3749039" y="184708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Freq.</a:t>
            </a:r>
            <a:endParaRPr/>
          </a:p>
        </p:txBody>
      </p:sp>
      <p:sp>
        <p:nvSpPr>
          <p:cNvPr id="191" name="Google Shape;191;p4"/>
          <p:cNvSpPr txBox="1"/>
          <p:nvPr/>
        </p:nvSpPr>
        <p:spPr>
          <a:xfrm>
            <a:off x="4434840" y="184708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Latência</a:t>
            </a:r>
            <a:endParaRPr/>
          </a:p>
        </p:txBody>
      </p:sp>
      <p:sp>
        <p:nvSpPr>
          <p:cNvPr id="192" name="Google Shape;192;p4"/>
          <p:cNvSpPr txBox="1"/>
          <p:nvPr/>
        </p:nvSpPr>
        <p:spPr>
          <a:xfrm>
            <a:off x="548640" y="214884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INMET CRAS Fercal</a:t>
            </a:r>
            <a:endParaRPr/>
          </a:p>
        </p:txBody>
      </p:sp>
      <p:sp>
        <p:nvSpPr>
          <p:cNvPr id="193" name="Google Shape;193;p4"/>
          <p:cNvSpPr txBox="1"/>
          <p:nvPr/>
        </p:nvSpPr>
        <p:spPr>
          <a:xfrm>
            <a:off x="1691640" y="214884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194" name="Google Shape;194;p4"/>
          <p:cNvSpPr txBox="1"/>
          <p:nvPr/>
        </p:nvSpPr>
        <p:spPr>
          <a:xfrm>
            <a:off x="2743200" y="214884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8.760 reg.</a:t>
            </a:r>
            <a:endParaRPr/>
          </a:p>
        </p:txBody>
      </p:sp>
      <p:sp>
        <p:nvSpPr>
          <p:cNvPr id="195" name="Google Shape;195;p4"/>
          <p:cNvSpPr txBox="1"/>
          <p:nvPr/>
        </p:nvSpPr>
        <p:spPr>
          <a:xfrm>
            <a:off x="3749039" y="214884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1h</a:t>
            </a:r>
            <a:endParaRPr/>
          </a:p>
        </p:txBody>
      </p:sp>
      <p:sp>
        <p:nvSpPr>
          <p:cNvPr id="196" name="Google Shape;196;p4"/>
          <p:cNvSpPr txBox="1"/>
          <p:nvPr/>
        </p:nvSpPr>
        <p:spPr>
          <a:xfrm>
            <a:off x="4434840" y="214884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T+1h</a:t>
            </a:r>
            <a:endParaRPr/>
          </a:p>
        </p:txBody>
      </p:sp>
      <p:sp>
        <p:nvSpPr>
          <p:cNvPr id="197" name="Google Shape;197;p4"/>
          <p:cNvSpPr txBox="1"/>
          <p:nvPr/>
        </p:nvSpPr>
        <p:spPr>
          <a:xfrm>
            <a:off x="548640" y="2587752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INMET Escola</a:t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1691640" y="2587752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99" name="Google Shape;199;p4"/>
          <p:cNvSpPr txBox="1"/>
          <p:nvPr/>
        </p:nvSpPr>
        <p:spPr>
          <a:xfrm>
            <a:off x="2743200" y="2587752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8.760 reg.</a:t>
            </a:r>
            <a:endParaRPr/>
          </a:p>
        </p:txBody>
      </p:sp>
      <p:sp>
        <p:nvSpPr>
          <p:cNvPr id="200" name="Google Shape;200;p4"/>
          <p:cNvSpPr txBox="1"/>
          <p:nvPr/>
        </p:nvSpPr>
        <p:spPr>
          <a:xfrm>
            <a:off x="3749039" y="2587752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1h</a:t>
            </a:r>
            <a:endParaRPr/>
          </a:p>
        </p:txBody>
      </p:sp>
      <p:sp>
        <p:nvSpPr>
          <p:cNvPr id="201" name="Google Shape;201;p4"/>
          <p:cNvSpPr txBox="1"/>
          <p:nvPr/>
        </p:nvSpPr>
        <p:spPr>
          <a:xfrm>
            <a:off x="4434840" y="2587752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T+1h</a:t>
            </a:r>
            <a:endParaRPr/>
          </a:p>
        </p:txBody>
      </p:sp>
      <p:sp>
        <p:nvSpPr>
          <p:cNvPr id="202" name="Google Shape;202;p4"/>
          <p:cNvSpPr txBox="1"/>
          <p:nvPr/>
        </p:nvSpPr>
        <p:spPr>
          <a:xfrm>
            <a:off x="548640" y="3026664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INMET 2024 hist.</a:t>
            </a:r>
            <a:endParaRPr/>
          </a:p>
        </p:txBody>
      </p:sp>
      <p:sp>
        <p:nvSpPr>
          <p:cNvPr id="203" name="Google Shape;203;p4"/>
          <p:cNvSpPr txBox="1"/>
          <p:nvPr/>
        </p:nvSpPr>
        <p:spPr>
          <a:xfrm>
            <a:off x="1691640" y="3026664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204" name="Google Shape;204;p4"/>
          <p:cNvSpPr txBox="1"/>
          <p:nvPr/>
        </p:nvSpPr>
        <p:spPr>
          <a:xfrm>
            <a:off x="2743200" y="3026664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8.784 reg.</a:t>
            </a:r>
            <a:endParaRPr/>
          </a:p>
        </p:txBody>
      </p:sp>
      <p:sp>
        <p:nvSpPr>
          <p:cNvPr id="205" name="Google Shape;205;p4"/>
          <p:cNvSpPr txBox="1"/>
          <p:nvPr/>
        </p:nvSpPr>
        <p:spPr>
          <a:xfrm>
            <a:off x="3749039" y="3026664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1h</a:t>
            </a:r>
            <a:endParaRPr/>
          </a:p>
        </p:txBody>
      </p:sp>
      <p:sp>
        <p:nvSpPr>
          <p:cNvPr id="206" name="Google Shape;206;p4"/>
          <p:cNvSpPr txBox="1"/>
          <p:nvPr/>
        </p:nvSpPr>
        <p:spPr>
          <a:xfrm>
            <a:off x="4434840" y="3026664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histórico</a:t>
            </a:r>
            <a:endParaRPr/>
          </a:p>
        </p:txBody>
      </p:sp>
      <p:sp>
        <p:nvSpPr>
          <p:cNvPr id="207" name="Google Shape;207;p4"/>
          <p:cNvSpPr txBox="1"/>
          <p:nvPr/>
        </p:nvSpPr>
        <p:spPr>
          <a:xfrm>
            <a:off x="548640" y="3465576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Open-Meteo</a:t>
            </a:r>
            <a:endParaRPr/>
          </a:p>
        </p:txBody>
      </p:sp>
      <p:sp>
        <p:nvSpPr>
          <p:cNvPr id="208" name="Google Shape;208;p4"/>
          <p:cNvSpPr txBox="1"/>
          <p:nvPr/>
        </p:nvSpPr>
        <p:spPr>
          <a:xfrm>
            <a:off x="1691640" y="3465576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09" name="Google Shape;209;p4"/>
          <p:cNvSpPr txBox="1"/>
          <p:nvPr/>
        </p:nvSpPr>
        <p:spPr>
          <a:xfrm>
            <a:off x="2743200" y="3465576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forecast</a:t>
            </a:r>
            <a:endParaRPr/>
          </a:p>
        </p:txBody>
      </p:sp>
      <p:sp>
        <p:nvSpPr>
          <p:cNvPr id="210" name="Google Shape;210;p4"/>
          <p:cNvSpPr txBox="1"/>
          <p:nvPr/>
        </p:nvSpPr>
        <p:spPr>
          <a:xfrm>
            <a:off x="3749039" y="3465576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6h</a:t>
            </a:r>
            <a:endParaRPr/>
          </a:p>
        </p:txBody>
      </p:sp>
      <p:sp>
        <p:nvSpPr>
          <p:cNvPr id="211" name="Google Shape;211;p4"/>
          <p:cNvSpPr txBox="1"/>
          <p:nvPr/>
        </p:nvSpPr>
        <p:spPr>
          <a:xfrm>
            <a:off x="4434840" y="3465576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batch</a:t>
            </a:r>
            <a:endParaRPr/>
          </a:p>
        </p:txBody>
      </p:sp>
      <p:sp>
        <p:nvSpPr>
          <p:cNvPr id="212" name="Google Shape;212;p4"/>
          <p:cNvSpPr/>
          <p:nvPr/>
        </p:nvSpPr>
        <p:spPr>
          <a:xfrm>
            <a:off x="6126480" y="1143000"/>
            <a:ext cx="5577840" cy="3840480"/>
          </a:xfrm>
          <a:prstGeom prst="rect">
            <a:avLst/>
          </a:prstGeom>
          <a:solidFill>
            <a:srgbClr val="122642"/>
          </a:solidFill>
          <a:ln w="9525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6126480" y="1143000"/>
            <a:ext cx="5577840" cy="54864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4"/>
          <p:cNvSpPr txBox="1"/>
          <p:nvPr/>
        </p:nvSpPr>
        <p:spPr>
          <a:xfrm>
            <a:off x="6263640" y="1170432"/>
            <a:ext cx="53949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⚡  Dados Near-Real-Time (Quasi-Streaming)</a:t>
            </a:r>
            <a:endParaRPr/>
          </a:p>
        </p:txBody>
      </p:sp>
      <p:sp>
        <p:nvSpPr>
          <p:cNvPr id="215" name="Google Shape;215;p4"/>
          <p:cNvSpPr txBox="1"/>
          <p:nvPr/>
        </p:nvSpPr>
        <p:spPr>
          <a:xfrm>
            <a:off x="6199632" y="184708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Fonte</a:t>
            </a:r>
            <a:endParaRPr/>
          </a:p>
        </p:txBody>
      </p:sp>
      <p:sp>
        <p:nvSpPr>
          <p:cNvPr id="216" name="Google Shape;216;p4"/>
          <p:cNvSpPr txBox="1"/>
          <p:nvPr/>
        </p:nvSpPr>
        <p:spPr>
          <a:xfrm>
            <a:off x="7452360" y="184708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Parâm.</a:t>
            </a:r>
            <a:endParaRPr/>
          </a:p>
        </p:txBody>
      </p:sp>
      <p:sp>
        <p:nvSpPr>
          <p:cNvPr id="217" name="Google Shape;217;p4"/>
          <p:cNvSpPr txBox="1"/>
          <p:nvPr/>
        </p:nvSpPr>
        <p:spPr>
          <a:xfrm>
            <a:off x="8641080" y="184708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Volume</a:t>
            </a:r>
            <a:endParaRPr/>
          </a:p>
        </p:txBody>
      </p:sp>
      <p:sp>
        <p:nvSpPr>
          <p:cNvPr id="218" name="Google Shape;218;p4"/>
          <p:cNvSpPr txBox="1"/>
          <p:nvPr/>
        </p:nvSpPr>
        <p:spPr>
          <a:xfrm>
            <a:off x="9692640" y="184708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Freq.</a:t>
            </a:r>
            <a:endParaRPr/>
          </a:p>
        </p:txBody>
      </p:sp>
      <p:sp>
        <p:nvSpPr>
          <p:cNvPr id="219" name="Google Shape;219;p4"/>
          <p:cNvSpPr txBox="1"/>
          <p:nvPr/>
        </p:nvSpPr>
        <p:spPr>
          <a:xfrm>
            <a:off x="10561320" y="184708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Latência</a:t>
            </a:r>
            <a:endParaRPr/>
          </a:p>
        </p:txBody>
      </p:sp>
      <p:sp>
        <p:nvSpPr>
          <p:cNvPr id="220" name="Google Shape;220;p4"/>
          <p:cNvSpPr txBox="1"/>
          <p:nvPr/>
        </p:nvSpPr>
        <p:spPr>
          <a:xfrm>
            <a:off x="6199632" y="214884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IQAir — Brasília ctr.</a:t>
            </a:r>
            <a:endParaRPr/>
          </a:p>
        </p:txBody>
      </p:sp>
      <p:sp>
        <p:nvSpPr>
          <p:cNvPr id="221" name="Google Shape;221;p4"/>
          <p:cNvSpPr txBox="1"/>
          <p:nvPr/>
        </p:nvSpPr>
        <p:spPr>
          <a:xfrm>
            <a:off x="7452360" y="214884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22" name="Google Shape;222;p4"/>
          <p:cNvSpPr txBox="1"/>
          <p:nvPr/>
        </p:nvSpPr>
        <p:spPr>
          <a:xfrm>
            <a:off x="8641080" y="214884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9.853 reg.</a:t>
            </a:r>
            <a:endParaRPr/>
          </a:p>
        </p:txBody>
      </p:sp>
      <p:sp>
        <p:nvSpPr>
          <p:cNvPr id="223" name="Google Shape;223;p4"/>
          <p:cNvSpPr txBox="1"/>
          <p:nvPr/>
        </p:nvSpPr>
        <p:spPr>
          <a:xfrm>
            <a:off x="9692640" y="214884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~1 min</a:t>
            </a:r>
            <a:endParaRPr/>
          </a:p>
        </p:txBody>
      </p:sp>
      <p:sp>
        <p:nvSpPr>
          <p:cNvPr id="224" name="Google Shape;224;p4"/>
          <p:cNvSpPr txBox="1"/>
          <p:nvPr/>
        </p:nvSpPr>
        <p:spPr>
          <a:xfrm>
            <a:off x="10561320" y="214884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&lt; 2min</a:t>
            </a:r>
            <a:endParaRPr/>
          </a:p>
        </p:txBody>
      </p:sp>
      <p:sp>
        <p:nvSpPr>
          <p:cNvPr id="225" name="Google Shape;225;p4"/>
          <p:cNvSpPr txBox="1"/>
          <p:nvPr/>
        </p:nvSpPr>
        <p:spPr>
          <a:xfrm>
            <a:off x="6199632" y="2587752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IQAir — Escola 115</a:t>
            </a:r>
            <a:endParaRPr/>
          </a:p>
        </p:txBody>
      </p:sp>
      <p:sp>
        <p:nvSpPr>
          <p:cNvPr id="226" name="Google Shape;226;p4"/>
          <p:cNvSpPr txBox="1"/>
          <p:nvPr/>
        </p:nvSpPr>
        <p:spPr>
          <a:xfrm>
            <a:off x="7452360" y="2587752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27" name="Google Shape;227;p4"/>
          <p:cNvSpPr txBox="1"/>
          <p:nvPr/>
        </p:nvSpPr>
        <p:spPr>
          <a:xfrm>
            <a:off x="8641080" y="2587752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8.766 reg.</a:t>
            </a:r>
            <a:endParaRPr/>
          </a:p>
        </p:txBody>
      </p:sp>
      <p:sp>
        <p:nvSpPr>
          <p:cNvPr id="228" name="Google Shape;228;p4"/>
          <p:cNvSpPr txBox="1"/>
          <p:nvPr/>
        </p:nvSpPr>
        <p:spPr>
          <a:xfrm>
            <a:off x="9692640" y="2587752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~1 min</a:t>
            </a:r>
            <a:endParaRPr/>
          </a:p>
        </p:txBody>
      </p:sp>
      <p:sp>
        <p:nvSpPr>
          <p:cNvPr id="229" name="Google Shape;229;p4"/>
          <p:cNvSpPr txBox="1"/>
          <p:nvPr/>
        </p:nvSpPr>
        <p:spPr>
          <a:xfrm>
            <a:off x="10561320" y="2587752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&lt; 2min</a:t>
            </a:r>
            <a:endParaRPr/>
          </a:p>
        </p:txBody>
      </p:sp>
      <p:sp>
        <p:nvSpPr>
          <p:cNvPr id="230" name="Google Shape;230;p4"/>
          <p:cNvSpPr txBox="1"/>
          <p:nvPr/>
        </p:nvSpPr>
        <p:spPr>
          <a:xfrm>
            <a:off x="6199632" y="3026664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IQAir — UnB Gama</a:t>
            </a:r>
            <a:endParaRPr/>
          </a:p>
        </p:txBody>
      </p:sp>
      <p:sp>
        <p:nvSpPr>
          <p:cNvPr id="231" name="Google Shape;231;p4"/>
          <p:cNvSpPr txBox="1"/>
          <p:nvPr/>
        </p:nvSpPr>
        <p:spPr>
          <a:xfrm>
            <a:off x="7452360" y="3026664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32" name="Google Shape;232;p4"/>
          <p:cNvSpPr txBox="1"/>
          <p:nvPr/>
        </p:nvSpPr>
        <p:spPr>
          <a:xfrm>
            <a:off x="8641080" y="3026664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9.053 reg.</a:t>
            </a:r>
            <a:endParaRPr/>
          </a:p>
        </p:txBody>
      </p:sp>
      <p:sp>
        <p:nvSpPr>
          <p:cNvPr id="233" name="Google Shape;233;p4"/>
          <p:cNvSpPr txBox="1"/>
          <p:nvPr/>
        </p:nvSpPr>
        <p:spPr>
          <a:xfrm>
            <a:off x="9692640" y="3026664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~1 min</a:t>
            </a:r>
            <a:endParaRPr/>
          </a:p>
        </p:txBody>
      </p:sp>
      <p:sp>
        <p:nvSpPr>
          <p:cNvPr id="234" name="Google Shape;234;p4"/>
          <p:cNvSpPr txBox="1"/>
          <p:nvPr/>
        </p:nvSpPr>
        <p:spPr>
          <a:xfrm>
            <a:off x="10561320" y="3026664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&lt; 2min</a:t>
            </a:r>
            <a:endParaRPr/>
          </a:p>
        </p:txBody>
      </p:sp>
      <p:sp>
        <p:nvSpPr>
          <p:cNvPr id="235" name="Google Shape;235;p4"/>
          <p:cNvSpPr txBox="1"/>
          <p:nvPr/>
        </p:nvSpPr>
        <p:spPr>
          <a:xfrm>
            <a:off x="6199632" y="3465576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IQAir — Finatec</a:t>
            </a:r>
            <a:endParaRPr/>
          </a:p>
        </p:txBody>
      </p:sp>
      <p:sp>
        <p:nvSpPr>
          <p:cNvPr id="236" name="Google Shape;236;p4"/>
          <p:cNvSpPr txBox="1"/>
          <p:nvPr/>
        </p:nvSpPr>
        <p:spPr>
          <a:xfrm>
            <a:off x="7452360" y="3465576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37" name="Google Shape;237;p4"/>
          <p:cNvSpPr txBox="1"/>
          <p:nvPr/>
        </p:nvSpPr>
        <p:spPr>
          <a:xfrm>
            <a:off x="8641080" y="3465576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8.629 reg.</a:t>
            </a:r>
            <a:endParaRPr/>
          </a:p>
        </p:txBody>
      </p:sp>
      <p:sp>
        <p:nvSpPr>
          <p:cNvPr id="238" name="Google Shape;238;p4"/>
          <p:cNvSpPr txBox="1"/>
          <p:nvPr/>
        </p:nvSpPr>
        <p:spPr>
          <a:xfrm>
            <a:off x="9692640" y="3465576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~1 min</a:t>
            </a:r>
            <a:endParaRPr/>
          </a:p>
        </p:txBody>
      </p:sp>
      <p:sp>
        <p:nvSpPr>
          <p:cNvPr id="239" name="Google Shape;239;p4"/>
          <p:cNvSpPr txBox="1"/>
          <p:nvPr/>
        </p:nvSpPr>
        <p:spPr>
          <a:xfrm>
            <a:off x="10561320" y="3465576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&lt; 2min</a:t>
            </a:r>
            <a:endParaRPr/>
          </a:p>
        </p:txBody>
      </p:sp>
      <p:sp>
        <p:nvSpPr>
          <p:cNvPr id="240" name="Google Shape;240;p4"/>
          <p:cNvSpPr/>
          <p:nvPr/>
        </p:nvSpPr>
        <p:spPr>
          <a:xfrm>
            <a:off x="457200" y="5074920"/>
            <a:ext cx="2697480" cy="777240"/>
          </a:xfrm>
          <a:prstGeom prst="rect">
            <a:avLst/>
          </a:prstGeom>
          <a:solidFill>
            <a:srgbClr val="12264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4"/>
          <p:cNvSpPr txBox="1"/>
          <p:nvPr/>
        </p:nvSpPr>
        <p:spPr>
          <a:xfrm>
            <a:off x="548640" y="509320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45.061</a:t>
            </a:r>
            <a:endParaRPr/>
          </a:p>
        </p:txBody>
      </p:sp>
      <p:sp>
        <p:nvSpPr>
          <p:cNvPr id="242" name="Google Shape;242;p4"/>
          <p:cNvSpPr txBox="1"/>
          <p:nvPr/>
        </p:nvSpPr>
        <p:spPr>
          <a:xfrm>
            <a:off x="548640" y="5468112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registros coletados</a:t>
            </a:r>
            <a:endParaRPr/>
          </a:p>
        </p:txBody>
      </p:sp>
      <p:sp>
        <p:nvSpPr>
          <p:cNvPr id="243" name="Google Shape;243;p4"/>
          <p:cNvSpPr/>
          <p:nvPr/>
        </p:nvSpPr>
        <p:spPr>
          <a:xfrm>
            <a:off x="3401568" y="5074920"/>
            <a:ext cx="2697480" cy="777240"/>
          </a:xfrm>
          <a:prstGeom prst="rect">
            <a:avLst/>
          </a:prstGeom>
          <a:solidFill>
            <a:srgbClr val="12264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4"/>
          <p:cNvSpPr txBox="1"/>
          <p:nvPr/>
        </p:nvSpPr>
        <p:spPr>
          <a:xfrm>
            <a:off x="3493008" y="509320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17.520</a:t>
            </a:r>
            <a:endParaRPr/>
          </a:p>
        </p:txBody>
      </p:sp>
      <p:sp>
        <p:nvSpPr>
          <p:cNvPr id="245" name="Google Shape;245;p4"/>
          <p:cNvSpPr txBox="1"/>
          <p:nvPr/>
        </p:nvSpPr>
        <p:spPr>
          <a:xfrm>
            <a:off x="3493008" y="5468112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novos reg./mês</a:t>
            </a:r>
            <a:endParaRPr/>
          </a:p>
        </p:txBody>
      </p:sp>
      <p:sp>
        <p:nvSpPr>
          <p:cNvPr id="246" name="Google Shape;246;p4"/>
          <p:cNvSpPr/>
          <p:nvPr/>
        </p:nvSpPr>
        <p:spPr>
          <a:xfrm>
            <a:off x="6345936" y="5074920"/>
            <a:ext cx="2697480" cy="777240"/>
          </a:xfrm>
          <a:prstGeom prst="rect">
            <a:avLst/>
          </a:prstGeom>
          <a:solidFill>
            <a:srgbClr val="12264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4"/>
          <p:cNvSpPr txBox="1"/>
          <p:nvPr/>
        </p:nvSpPr>
        <p:spPr>
          <a:xfrm>
            <a:off x="6437376" y="509320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250k+</a:t>
            </a:r>
            <a:endParaRPr/>
          </a:p>
        </p:txBody>
      </p:sp>
      <p:sp>
        <p:nvSpPr>
          <p:cNvPr id="248" name="Google Shape;248;p4"/>
          <p:cNvSpPr txBox="1"/>
          <p:nvPr/>
        </p:nvSpPr>
        <p:spPr>
          <a:xfrm>
            <a:off x="6437376" y="5468112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estimado em 2026</a:t>
            </a:r>
            <a:endParaRPr/>
          </a:p>
        </p:txBody>
      </p:sp>
      <p:sp>
        <p:nvSpPr>
          <p:cNvPr id="249" name="Google Shape;249;p4"/>
          <p:cNvSpPr/>
          <p:nvPr/>
        </p:nvSpPr>
        <p:spPr>
          <a:xfrm>
            <a:off x="9290304" y="5074920"/>
            <a:ext cx="2697480" cy="777240"/>
          </a:xfrm>
          <a:prstGeom prst="rect">
            <a:avLst/>
          </a:prstGeom>
          <a:solidFill>
            <a:srgbClr val="12264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4"/>
          <p:cNvSpPr txBox="1"/>
          <p:nvPr/>
        </p:nvSpPr>
        <p:spPr>
          <a:xfrm>
            <a:off x="9381744" y="509320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Parquet</a:t>
            </a:r>
            <a:endParaRPr/>
          </a:p>
        </p:txBody>
      </p:sp>
      <p:sp>
        <p:nvSpPr>
          <p:cNvPr id="251" name="Google Shape;251;p4"/>
          <p:cNvSpPr txBox="1"/>
          <p:nvPr/>
        </p:nvSpPr>
        <p:spPr>
          <a:xfrm>
            <a:off x="9381744" y="5468112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formato final</a:t>
            </a:r>
            <a:endParaRPr/>
          </a:p>
        </p:txBody>
      </p:sp>
      <p:sp>
        <p:nvSpPr>
          <p:cNvPr id="252" name="Google Shape;252;p4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40B1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5"/>
          <p:cNvSpPr/>
          <p:nvPr/>
        </p:nvSpPr>
        <p:spPr>
          <a:xfrm>
            <a:off x="502920" y="164592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5"/>
          <p:cNvSpPr txBox="1"/>
          <p:nvPr/>
        </p:nvSpPr>
        <p:spPr>
          <a:xfrm>
            <a:off x="685800" y="13716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Domínios e Serviços</a:t>
            </a:r>
            <a:endParaRPr/>
          </a:p>
        </p:txBody>
      </p:sp>
      <p:sp>
        <p:nvSpPr>
          <p:cNvPr id="261" name="Google Shape;261;p5"/>
          <p:cNvSpPr txBox="1"/>
          <p:nvPr/>
        </p:nvSpPr>
        <p:spPr>
          <a:xfrm>
            <a:off x="685800" y="640080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5 domínios DDD · baixo acoplamento · alta coesão</a:t>
            </a:r>
            <a:endParaRPr/>
          </a:p>
        </p:txBody>
      </p:sp>
      <p:sp>
        <p:nvSpPr>
          <p:cNvPr id="262" name="Google Shape;262;p5"/>
          <p:cNvSpPr/>
          <p:nvPr/>
        </p:nvSpPr>
        <p:spPr>
          <a:xfrm>
            <a:off x="320040" y="1143000"/>
            <a:ext cx="2212848" cy="3657600"/>
          </a:xfrm>
          <a:prstGeom prst="rect">
            <a:avLst/>
          </a:prstGeom>
          <a:solidFill>
            <a:srgbClr val="122642"/>
          </a:solidFill>
          <a:ln w="9525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320040" y="1143000"/>
            <a:ext cx="2212848" cy="5029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5"/>
          <p:cNvSpPr txBox="1"/>
          <p:nvPr/>
        </p:nvSpPr>
        <p:spPr>
          <a:xfrm>
            <a:off x="365759" y="1161288"/>
            <a:ext cx="212140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Ingestão</a:t>
            </a:r>
            <a:endParaRPr/>
          </a:p>
        </p:txBody>
      </p:sp>
      <p:sp>
        <p:nvSpPr>
          <p:cNvPr id="265" name="Google Shape;265;p5"/>
          <p:cNvSpPr/>
          <p:nvPr/>
        </p:nvSpPr>
        <p:spPr>
          <a:xfrm>
            <a:off x="457200" y="17830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5"/>
          <p:cNvSpPr txBox="1"/>
          <p:nvPr/>
        </p:nvSpPr>
        <p:spPr>
          <a:xfrm>
            <a:off x="502920" y="1837943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IQAir API</a:t>
            </a:r>
            <a:endParaRPr/>
          </a:p>
        </p:txBody>
      </p:sp>
      <p:sp>
        <p:nvSpPr>
          <p:cNvPr id="267" name="Google Shape;267;p5"/>
          <p:cNvSpPr/>
          <p:nvPr/>
        </p:nvSpPr>
        <p:spPr>
          <a:xfrm>
            <a:off x="457200" y="22402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5"/>
          <p:cNvSpPr txBox="1"/>
          <p:nvPr/>
        </p:nvSpPr>
        <p:spPr>
          <a:xfrm>
            <a:off x="502920" y="2295144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INMET API</a:t>
            </a:r>
            <a:endParaRPr/>
          </a:p>
        </p:txBody>
      </p:sp>
      <p:sp>
        <p:nvSpPr>
          <p:cNvPr id="269" name="Google Shape;269;p5"/>
          <p:cNvSpPr/>
          <p:nvPr/>
        </p:nvSpPr>
        <p:spPr>
          <a:xfrm>
            <a:off x="457200" y="26974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5"/>
          <p:cNvSpPr txBox="1"/>
          <p:nvPr/>
        </p:nvSpPr>
        <p:spPr>
          <a:xfrm>
            <a:off x="502920" y="2752344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Open-Meteo</a:t>
            </a:r>
            <a:endParaRPr/>
          </a:p>
        </p:txBody>
      </p:sp>
      <p:sp>
        <p:nvSpPr>
          <p:cNvPr id="271" name="Google Shape;271;p5"/>
          <p:cNvSpPr/>
          <p:nvPr/>
        </p:nvSpPr>
        <p:spPr>
          <a:xfrm>
            <a:off x="365759" y="4023360"/>
            <a:ext cx="2103120" cy="384048"/>
          </a:xfrm>
          <a:prstGeom prst="rect">
            <a:avLst/>
          </a:prstGeom>
          <a:solidFill>
            <a:srgbClr val="07112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5"/>
          <p:cNvSpPr txBox="1"/>
          <p:nvPr/>
        </p:nvSpPr>
        <p:spPr>
          <a:xfrm>
            <a:off x="411479" y="4041648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Python / Requests</a:t>
            </a:r>
            <a:endParaRPr/>
          </a:p>
        </p:txBody>
      </p:sp>
      <p:sp>
        <p:nvSpPr>
          <p:cNvPr id="273" name="Google Shape;273;p5"/>
          <p:cNvSpPr/>
          <p:nvPr/>
        </p:nvSpPr>
        <p:spPr>
          <a:xfrm>
            <a:off x="2697480" y="1143000"/>
            <a:ext cx="2212848" cy="3657600"/>
          </a:xfrm>
          <a:prstGeom prst="rect">
            <a:avLst/>
          </a:prstGeom>
          <a:solidFill>
            <a:srgbClr val="122642"/>
          </a:solidFill>
          <a:ln w="9525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5"/>
          <p:cNvSpPr/>
          <p:nvPr/>
        </p:nvSpPr>
        <p:spPr>
          <a:xfrm>
            <a:off x="2697480" y="1143000"/>
            <a:ext cx="2212848" cy="50292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5"/>
          <p:cNvSpPr txBox="1"/>
          <p:nvPr/>
        </p:nvSpPr>
        <p:spPr>
          <a:xfrm>
            <a:off x="2743200" y="1161288"/>
            <a:ext cx="212140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Processamento</a:t>
            </a:r>
            <a:endParaRPr/>
          </a:p>
        </p:txBody>
      </p:sp>
      <p:sp>
        <p:nvSpPr>
          <p:cNvPr id="276" name="Google Shape;276;p5"/>
          <p:cNvSpPr/>
          <p:nvPr/>
        </p:nvSpPr>
        <p:spPr>
          <a:xfrm>
            <a:off x="2834640" y="17830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5"/>
          <p:cNvSpPr txBox="1"/>
          <p:nvPr/>
        </p:nvSpPr>
        <p:spPr>
          <a:xfrm>
            <a:off x="2880360" y="1837943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Validação</a:t>
            </a:r>
            <a:endParaRPr/>
          </a:p>
        </p:txBody>
      </p:sp>
      <p:sp>
        <p:nvSpPr>
          <p:cNvPr id="278" name="Google Shape;278;p5"/>
          <p:cNvSpPr/>
          <p:nvPr/>
        </p:nvSpPr>
        <p:spPr>
          <a:xfrm>
            <a:off x="2834640" y="22402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5"/>
          <p:cNvSpPr txBox="1"/>
          <p:nvPr/>
        </p:nvSpPr>
        <p:spPr>
          <a:xfrm>
            <a:off x="2880360" y="2295144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Outlier Clip</a:t>
            </a:r>
            <a:endParaRPr/>
          </a:p>
        </p:txBody>
      </p:sp>
      <p:sp>
        <p:nvSpPr>
          <p:cNvPr id="280" name="Google Shape;280;p5"/>
          <p:cNvSpPr/>
          <p:nvPr/>
        </p:nvSpPr>
        <p:spPr>
          <a:xfrm>
            <a:off x="2834640" y="26974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5"/>
          <p:cNvSpPr txBox="1"/>
          <p:nvPr/>
        </p:nvSpPr>
        <p:spPr>
          <a:xfrm>
            <a:off x="2880360" y="2752344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Deduplicação</a:t>
            </a:r>
            <a:endParaRPr/>
          </a:p>
        </p:txBody>
      </p:sp>
      <p:sp>
        <p:nvSpPr>
          <p:cNvPr id="282" name="Google Shape;282;p5"/>
          <p:cNvSpPr/>
          <p:nvPr/>
        </p:nvSpPr>
        <p:spPr>
          <a:xfrm>
            <a:off x="2743200" y="4023360"/>
            <a:ext cx="2103120" cy="384048"/>
          </a:xfrm>
          <a:prstGeom prst="rect">
            <a:avLst/>
          </a:prstGeom>
          <a:solidFill>
            <a:srgbClr val="07112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5"/>
          <p:cNvSpPr txBox="1"/>
          <p:nvPr/>
        </p:nvSpPr>
        <p:spPr>
          <a:xfrm>
            <a:off x="2788920" y="4041648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Great Expect. / PySpark</a:t>
            </a:r>
            <a:endParaRPr/>
          </a:p>
        </p:txBody>
      </p:sp>
      <p:sp>
        <p:nvSpPr>
          <p:cNvPr id="284" name="Google Shape;284;p5"/>
          <p:cNvSpPr/>
          <p:nvPr/>
        </p:nvSpPr>
        <p:spPr>
          <a:xfrm>
            <a:off x="5074920" y="1143000"/>
            <a:ext cx="2212848" cy="3657600"/>
          </a:xfrm>
          <a:prstGeom prst="rect">
            <a:avLst/>
          </a:prstGeom>
          <a:solidFill>
            <a:srgbClr val="122642"/>
          </a:solidFill>
          <a:ln w="9525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5"/>
          <p:cNvSpPr/>
          <p:nvPr/>
        </p:nvSpPr>
        <p:spPr>
          <a:xfrm>
            <a:off x="5074920" y="1143000"/>
            <a:ext cx="2212848" cy="50292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5"/>
          <p:cNvSpPr txBox="1"/>
          <p:nvPr/>
        </p:nvSpPr>
        <p:spPr>
          <a:xfrm>
            <a:off x="5120640" y="1161288"/>
            <a:ext cx="212140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Eng.</a:t>
            </a:r>
            <a:endParaRPr/>
          </a:p>
        </p:txBody>
      </p:sp>
      <p:sp>
        <p:nvSpPr>
          <p:cNvPr id="287" name="Google Shape;287;p5"/>
          <p:cNvSpPr/>
          <p:nvPr/>
        </p:nvSpPr>
        <p:spPr>
          <a:xfrm>
            <a:off x="5212080" y="17830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5"/>
          <p:cNvSpPr txBox="1"/>
          <p:nvPr/>
        </p:nvSpPr>
        <p:spPr>
          <a:xfrm>
            <a:off x="5257800" y="1837943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86 features</a:t>
            </a:r>
            <a:endParaRPr/>
          </a:p>
        </p:txBody>
      </p:sp>
      <p:sp>
        <p:nvSpPr>
          <p:cNvPr id="289" name="Google Shape;289;p5"/>
          <p:cNvSpPr/>
          <p:nvPr/>
        </p:nvSpPr>
        <p:spPr>
          <a:xfrm>
            <a:off x="5212080" y="22402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5"/>
          <p:cNvSpPr txBox="1"/>
          <p:nvPr/>
        </p:nvSpPr>
        <p:spPr>
          <a:xfrm>
            <a:off x="5257800" y="2295144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Lag/Rolling</a:t>
            </a:r>
            <a:endParaRPr/>
          </a:p>
        </p:txBody>
      </p:sp>
      <p:sp>
        <p:nvSpPr>
          <p:cNvPr id="291" name="Google Shape;291;p5"/>
          <p:cNvSpPr/>
          <p:nvPr/>
        </p:nvSpPr>
        <p:spPr>
          <a:xfrm>
            <a:off x="5212080" y="26974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5"/>
          <p:cNvSpPr txBox="1"/>
          <p:nvPr/>
        </p:nvSpPr>
        <p:spPr>
          <a:xfrm>
            <a:off x="5257800" y="2752344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Temporais</a:t>
            </a:r>
            <a:endParaRPr/>
          </a:p>
        </p:txBody>
      </p:sp>
      <p:sp>
        <p:nvSpPr>
          <p:cNvPr id="293" name="Google Shape;293;p5"/>
          <p:cNvSpPr/>
          <p:nvPr/>
        </p:nvSpPr>
        <p:spPr>
          <a:xfrm>
            <a:off x="5120640" y="4023360"/>
            <a:ext cx="2103120" cy="384048"/>
          </a:xfrm>
          <a:prstGeom prst="rect">
            <a:avLst/>
          </a:prstGeom>
          <a:solidFill>
            <a:srgbClr val="07112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5"/>
          <p:cNvSpPr txBox="1"/>
          <p:nvPr/>
        </p:nvSpPr>
        <p:spPr>
          <a:xfrm>
            <a:off x="5166360" y="4041648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PySpark / Delta Lake</a:t>
            </a:r>
            <a:endParaRPr/>
          </a:p>
        </p:txBody>
      </p:sp>
      <p:sp>
        <p:nvSpPr>
          <p:cNvPr id="295" name="Google Shape;295;p5"/>
          <p:cNvSpPr/>
          <p:nvPr/>
        </p:nvSpPr>
        <p:spPr>
          <a:xfrm>
            <a:off x="7452360" y="1143000"/>
            <a:ext cx="2212848" cy="3657600"/>
          </a:xfrm>
          <a:prstGeom prst="rect">
            <a:avLst/>
          </a:prstGeom>
          <a:solidFill>
            <a:srgbClr val="122642"/>
          </a:solidFill>
          <a:ln w="9525" cap="flat" cmpd="sng">
            <a:solidFill>
              <a:srgbClr val="F5C51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5"/>
          <p:cNvSpPr/>
          <p:nvPr/>
        </p:nvSpPr>
        <p:spPr>
          <a:xfrm>
            <a:off x="7452360" y="1143000"/>
            <a:ext cx="2212848" cy="502920"/>
          </a:xfrm>
          <a:prstGeom prst="rect">
            <a:avLst/>
          </a:prstGeom>
          <a:solidFill>
            <a:srgbClr val="F5C51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5"/>
          <p:cNvSpPr txBox="1"/>
          <p:nvPr/>
        </p:nvSpPr>
        <p:spPr>
          <a:xfrm>
            <a:off x="7498080" y="1161288"/>
            <a:ext cx="212140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Modelo ML</a:t>
            </a:r>
            <a:endParaRPr/>
          </a:p>
        </p:txBody>
      </p:sp>
      <p:sp>
        <p:nvSpPr>
          <p:cNvPr id="298" name="Google Shape;298;p5"/>
          <p:cNvSpPr/>
          <p:nvPr/>
        </p:nvSpPr>
        <p:spPr>
          <a:xfrm>
            <a:off x="7589520" y="17830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5"/>
          <p:cNvSpPr txBox="1"/>
          <p:nvPr/>
        </p:nvSpPr>
        <p:spPr>
          <a:xfrm>
            <a:off x="7635240" y="1837943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/>
          </a:p>
        </p:txBody>
      </p:sp>
      <p:sp>
        <p:nvSpPr>
          <p:cNvPr id="300" name="Google Shape;300;p5"/>
          <p:cNvSpPr/>
          <p:nvPr/>
        </p:nvSpPr>
        <p:spPr>
          <a:xfrm>
            <a:off x="7589520" y="22402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5"/>
          <p:cNvSpPr txBox="1"/>
          <p:nvPr/>
        </p:nvSpPr>
        <p:spPr>
          <a:xfrm>
            <a:off x="7635240" y="2295144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Score 0-100</a:t>
            </a:r>
            <a:endParaRPr/>
          </a:p>
        </p:txBody>
      </p:sp>
      <p:sp>
        <p:nvSpPr>
          <p:cNvPr id="302" name="Google Shape;302;p5"/>
          <p:cNvSpPr/>
          <p:nvPr/>
        </p:nvSpPr>
        <p:spPr>
          <a:xfrm>
            <a:off x="7589520" y="26974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5"/>
          <p:cNvSpPr txBox="1"/>
          <p:nvPr/>
        </p:nvSpPr>
        <p:spPr>
          <a:xfrm>
            <a:off x="7635240" y="2752344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Classificação</a:t>
            </a:r>
            <a:endParaRPr/>
          </a:p>
        </p:txBody>
      </p:sp>
      <p:sp>
        <p:nvSpPr>
          <p:cNvPr id="304" name="Google Shape;304;p5"/>
          <p:cNvSpPr/>
          <p:nvPr/>
        </p:nvSpPr>
        <p:spPr>
          <a:xfrm>
            <a:off x="7498080" y="4023360"/>
            <a:ext cx="2103120" cy="384048"/>
          </a:xfrm>
          <a:prstGeom prst="rect">
            <a:avLst/>
          </a:prstGeom>
          <a:solidFill>
            <a:srgbClr val="07112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5"/>
          <p:cNvSpPr txBox="1"/>
          <p:nvPr/>
        </p:nvSpPr>
        <p:spPr>
          <a:xfrm>
            <a:off x="7543800" y="4041648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Scikit-Learn / MLflow</a:t>
            </a:r>
            <a:endParaRPr/>
          </a:p>
        </p:txBody>
      </p:sp>
      <p:sp>
        <p:nvSpPr>
          <p:cNvPr id="306" name="Google Shape;306;p5"/>
          <p:cNvSpPr/>
          <p:nvPr/>
        </p:nvSpPr>
        <p:spPr>
          <a:xfrm>
            <a:off x="9829800" y="1143000"/>
            <a:ext cx="2212848" cy="3657600"/>
          </a:xfrm>
          <a:prstGeom prst="rect">
            <a:avLst/>
          </a:prstGeom>
          <a:solidFill>
            <a:srgbClr val="122642"/>
          </a:solidFill>
          <a:ln w="9525" cap="flat" cmpd="sng">
            <a:solidFill>
              <a:srgbClr val="2DC65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5"/>
          <p:cNvSpPr/>
          <p:nvPr/>
        </p:nvSpPr>
        <p:spPr>
          <a:xfrm>
            <a:off x="9829800" y="1143000"/>
            <a:ext cx="2212848" cy="502920"/>
          </a:xfrm>
          <a:prstGeom prst="rect">
            <a:avLst/>
          </a:prstGeom>
          <a:solidFill>
            <a:srgbClr val="2DC6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5"/>
          <p:cNvSpPr txBox="1"/>
          <p:nvPr/>
        </p:nvSpPr>
        <p:spPr>
          <a:xfrm>
            <a:off x="9875520" y="1161288"/>
            <a:ext cx="212140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Entrega</a:t>
            </a:r>
            <a:endParaRPr/>
          </a:p>
        </p:txBody>
      </p:sp>
      <p:sp>
        <p:nvSpPr>
          <p:cNvPr id="309" name="Google Shape;309;p5"/>
          <p:cNvSpPr/>
          <p:nvPr/>
        </p:nvSpPr>
        <p:spPr>
          <a:xfrm>
            <a:off x="9966960" y="17830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5"/>
          <p:cNvSpPr txBox="1"/>
          <p:nvPr/>
        </p:nvSpPr>
        <p:spPr>
          <a:xfrm>
            <a:off x="10012680" y="1837943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App MotoAR</a:t>
            </a:r>
            <a:endParaRPr/>
          </a:p>
        </p:txBody>
      </p:sp>
      <p:sp>
        <p:nvSpPr>
          <p:cNvPr id="311" name="Google Shape;311;p5"/>
          <p:cNvSpPr/>
          <p:nvPr/>
        </p:nvSpPr>
        <p:spPr>
          <a:xfrm>
            <a:off x="9966960" y="22402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5"/>
          <p:cNvSpPr txBox="1"/>
          <p:nvPr/>
        </p:nvSpPr>
        <p:spPr>
          <a:xfrm>
            <a:off x="10012680" y="2295144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Flask API</a:t>
            </a:r>
            <a:endParaRPr/>
          </a:p>
        </p:txBody>
      </p:sp>
      <p:sp>
        <p:nvSpPr>
          <p:cNvPr id="313" name="Google Shape;313;p5"/>
          <p:cNvSpPr/>
          <p:nvPr/>
        </p:nvSpPr>
        <p:spPr>
          <a:xfrm>
            <a:off x="9966960" y="26974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5"/>
          <p:cNvSpPr txBox="1"/>
          <p:nvPr/>
        </p:nvSpPr>
        <p:spPr>
          <a:xfrm>
            <a:off x="10012680" y="2752344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Notificações</a:t>
            </a:r>
            <a:endParaRPr/>
          </a:p>
        </p:txBody>
      </p:sp>
      <p:sp>
        <p:nvSpPr>
          <p:cNvPr id="315" name="Google Shape;315;p5"/>
          <p:cNvSpPr/>
          <p:nvPr/>
        </p:nvSpPr>
        <p:spPr>
          <a:xfrm>
            <a:off x="9875520" y="4023360"/>
            <a:ext cx="2103120" cy="384048"/>
          </a:xfrm>
          <a:prstGeom prst="rect">
            <a:avLst/>
          </a:prstGeom>
          <a:solidFill>
            <a:srgbClr val="07112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5"/>
          <p:cNvSpPr txBox="1"/>
          <p:nvPr/>
        </p:nvSpPr>
        <p:spPr>
          <a:xfrm>
            <a:off x="9921240" y="4041648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Flask / Metabase</a:t>
            </a:r>
            <a:endParaRPr/>
          </a:p>
        </p:txBody>
      </p:sp>
      <p:sp>
        <p:nvSpPr>
          <p:cNvPr id="317" name="Google Shape;317;p5"/>
          <p:cNvSpPr txBox="1"/>
          <p:nvPr/>
        </p:nvSpPr>
        <p:spPr>
          <a:xfrm>
            <a:off x="320040" y="4553712"/>
            <a:ext cx="11521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Ingestão  →  Processamento  →  Feature Eng.  →  Modelo ML  →  Entrega</a:t>
            </a:r>
            <a:endParaRPr/>
          </a:p>
        </p:txBody>
      </p:sp>
      <p:sp>
        <p:nvSpPr>
          <p:cNvPr id="318" name="Google Shape;318;p5"/>
          <p:cNvSpPr txBox="1"/>
          <p:nvPr/>
        </p:nvSpPr>
        <p:spPr>
          <a:xfrm>
            <a:off x="320040" y="4983480"/>
            <a:ext cx="11521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Serviços Compartilhados</a:t>
            </a:r>
            <a:endParaRPr/>
          </a:p>
        </p:txBody>
      </p:sp>
      <p:sp>
        <p:nvSpPr>
          <p:cNvPr id="319" name="Google Shape;319;p5"/>
          <p:cNvSpPr/>
          <p:nvPr/>
        </p:nvSpPr>
        <p:spPr>
          <a:xfrm>
            <a:off x="1371600" y="5376672"/>
            <a:ext cx="4297680" cy="804672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5"/>
          <p:cNvSpPr txBox="1"/>
          <p:nvPr/>
        </p:nvSpPr>
        <p:spPr>
          <a:xfrm>
            <a:off x="1463040" y="53949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Apache Airflow</a:t>
            </a:r>
            <a:endParaRPr/>
          </a:p>
        </p:txBody>
      </p:sp>
      <p:sp>
        <p:nvSpPr>
          <p:cNvPr id="321" name="Google Shape;321;p5"/>
          <p:cNvSpPr txBox="1"/>
          <p:nvPr/>
        </p:nvSpPr>
        <p:spPr>
          <a:xfrm>
            <a:off x="1463040" y="5715000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D5A78"/>
                </a:solidFill>
                <a:latin typeface="Calibri"/>
                <a:ea typeface="Calibri"/>
                <a:cs typeface="Calibri"/>
                <a:sym typeface="Calibri"/>
              </a:rPr>
              <a:t>Orquestração batch · DAGs Python</a:t>
            </a:r>
            <a:endParaRPr/>
          </a:p>
        </p:txBody>
      </p:sp>
      <p:sp>
        <p:nvSpPr>
          <p:cNvPr id="322" name="Google Shape;322;p5"/>
          <p:cNvSpPr/>
          <p:nvPr/>
        </p:nvSpPr>
        <p:spPr>
          <a:xfrm>
            <a:off x="6400800" y="5376672"/>
            <a:ext cx="4297680" cy="804672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5"/>
          <p:cNvSpPr txBox="1"/>
          <p:nvPr/>
        </p:nvSpPr>
        <p:spPr>
          <a:xfrm>
            <a:off x="6492240" y="53949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Grafana + Prometheus</a:t>
            </a:r>
            <a:endParaRPr/>
          </a:p>
        </p:txBody>
      </p:sp>
      <p:sp>
        <p:nvSpPr>
          <p:cNvPr id="324" name="Google Shape;324;p5"/>
          <p:cNvSpPr txBox="1"/>
          <p:nvPr/>
        </p:nvSpPr>
        <p:spPr>
          <a:xfrm>
            <a:off x="6492240" y="5715000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D5A78"/>
                </a:solidFill>
                <a:latin typeface="Calibri"/>
                <a:ea typeface="Calibri"/>
                <a:cs typeface="Calibri"/>
                <a:sym typeface="Calibri"/>
              </a:rPr>
              <a:t>Monitoramento · Alertas em tempo real</a:t>
            </a:r>
            <a:endParaRPr/>
          </a:p>
        </p:txBody>
      </p:sp>
      <p:sp>
        <p:nvSpPr>
          <p:cNvPr id="325" name="Google Shape;325;p5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6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40B1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6"/>
          <p:cNvSpPr/>
          <p:nvPr/>
        </p:nvSpPr>
        <p:spPr>
          <a:xfrm>
            <a:off x="502920" y="164592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6"/>
          <p:cNvSpPr txBox="1"/>
          <p:nvPr/>
        </p:nvSpPr>
        <p:spPr>
          <a:xfrm>
            <a:off x="685800" y="13716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Arquitetura — Fluxo Ponta a Ponta</a:t>
            </a:r>
            <a:endParaRPr/>
          </a:p>
        </p:txBody>
      </p:sp>
      <p:sp>
        <p:nvSpPr>
          <p:cNvPr id="334" name="Google Shape;334;p6"/>
          <p:cNvSpPr txBox="1"/>
          <p:nvPr/>
        </p:nvSpPr>
        <p:spPr>
          <a:xfrm>
            <a:off x="685800" y="640080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Arquitetura Medalhão · Bronze → Silver → Gold · Delta Lake</a:t>
            </a:r>
            <a:endParaRPr/>
          </a:p>
        </p:txBody>
      </p:sp>
      <p:sp>
        <p:nvSpPr>
          <p:cNvPr id="335" name="Google Shape;335;p6"/>
          <p:cNvSpPr/>
          <p:nvPr/>
        </p:nvSpPr>
        <p:spPr>
          <a:xfrm>
            <a:off x="8138160" y="1143000"/>
            <a:ext cx="3611880" cy="5047488"/>
          </a:xfrm>
          <a:prstGeom prst="rect">
            <a:avLst/>
          </a:prstGeom>
          <a:solidFill>
            <a:srgbClr val="122642"/>
          </a:solidFill>
          <a:ln w="9525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6"/>
          <p:cNvSpPr txBox="1"/>
          <p:nvPr/>
        </p:nvSpPr>
        <p:spPr>
          <a:xfrm>
            <a:off x="8275320" y="1216152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Arquitetura Medalhão</a:t>
            </a:r>
            <a:endParaRPr/>
          </a:p>
        </p:txBody>
      </p:sp>
      <p:sp>
        <p:nvSpPr>
          <p:cNvPr id="337" name="Google Shape;337;p6"/>
          <p:cNvSpPr txBox="1"/>
          <p:nvPr/>
        </p:nvSpPr>
        <p:spPr>
          <a:xfrm>
            <a:off x="8275320" y="1618488"/>
            <a:ext cx="33832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Organiza dados em três camadas progressivas de qualidade — ideal para auditabilidade em saúde pública.</a:t>
            </a:r>
            <a:endParaRPr/>
          </a:p>
        </p:txBody>
      </p:sp>
      <p:sp>
        <p:nvSpPr>
          <p:cNvPr id="338" name="Google Shape;338;p6"/>
          <p:cNvSpPr txBox="1"/>
          <p:nvPr/>
        </p:nvSpPr>
        <p:spPr>
          <a:xfrm>
            <a:off x="8275320" y="248716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Por que não Lambda?</a:t>
            </a:r>
            <a:endParaRPr/>
          </a:p>
        </p:txBody>
      </p:sp>
      <p:sp>
        <p:nvSpPr>
          <p:cNvPr id="339" name="Google Shape;339;p6"/>
          <p:cNvSpPr txBox="1"/>
          <p:nvPr/>
        </p:nvSpPr>
        <p:spPr>
          <a:xfrm>
            <a:off x="8275320" y="2852928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Duas bases de código para o mesmo resultado, sem ganho de latência justificável para o caso de uso.</a:t>
            </a:r>
            <a:endParaRPr/>
          </a:p>
        </p:txBody>
      </p:sp>
      <p:sp>
        <p:nvSpPr>
          <p:cNvPr id="340" name="Google Shape;340;p6"/>
          <p:cNvSpPr txBox="1"/>
          <p:nvPr/>
        </p:nvSpPr>
        <p:spPr>
          <a:xfrm>
            <a:off x="8275320" y="363016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Por que não Kappa?</a:t>
            </a:r>
            <a:endParaRPr/>
          </a:p>
        </p:txBody>
      </p:sp>
      <p:sp>
        <p:nvSpPr>
          <p:cNvPr id="341" name="Google Shape;341;p6"/>
          <p:cNvSpPr txBox="1"/>
          <p:nvPr/>
        </p:nvSpPr>
        <p:spPr>
          <a:xfrm>
            <a:off x="8275320" y="3995928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Sem requisito de streaming verdadeiro — micro-batching a cada 5min é suficiente e muito mais simples.</a:t>
            </a:r>
            <a:endParaRPr/>
          </a:p>
        </p:txBody>
      </p:sp>
      <p:sp>
        <p:nvSpPr>
          <p:cNvPr id="342" name="Google Shape;342;p6"/>
          <p:cNvSpPr/>
          <p:nvPr/>
        </p:nvSpPr>
        <p:spPr>
          <a:xfrm>
            <a:off x="8275320" y="4818888"/>
            <a:ext cx="292608" cy="292608"/>
          </a:xfrm>
          <a:prstGeom prst="ellipse">
            <a:avLst/>
          </a:prstGeom>
          <a:solidFill>
            <a:srgbClr val="CD7F3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6"/>
          <p:cNvSpPr txBox="1"/>
          <p:nvPr/>
        </p:nvSpPr>
        <p:spPr>
          <a:xfrm>
            <a:off x="8641080" y="4782312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D7F32"/>
                </a:solidFill>
                <a:latin typeface="Calibri"/>
                <a:ea typeface="Calibri"/>
                <a:cs typeface="Calibri"/>
                <a:sym typeface="Calibri"/>
              </a:rPr>
              <a:t>Bronze</a:t>
            </a:r>
            <a:endParaRPr/>
          </a:p>
        </p:txBody>
      </p:sp>
      <p:sp>
        <p:nvSpPr>
          <p:cNvPr id="344" name="Google Shape;344;p6"/>
          <p:cNvSpPr txBox="1"/>
          <p:nvPr/>
        </p:nvSpPr>
        <p:spPr>
          <a:xfrm>
            <a:off x="9674352" y="4818888"/>
            <a:ext cx="20299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Dados brutos, imutáveis, ACID</a:t>
            </a:r>
            <a:endParaRPr/>
          </a:p>
        </p:txBody>
      </p:sp>
      <p:sp>
        <p:nvSpPr>
          <p:cNvPr id="345" name="Google Shape;345;p6"/>
          <p:cNvSpPr/>
          <p:nvPr/>
        </p:nvSpPr>
        <p:spPr>
          <a:xfrm>
            <a:off x="8275320" y="5294376"/>
            <a:ext cx="292608" cy="292608"/>
          </a:xfrm>
          <a:prstGeom prst="ellipse">
            <a:avLst/>
          </a:prstGeom>
          <a:solidFill>
            <a:srgbClr val="AAAAA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6"/>
          <p:cNvSpPr txBox="1"/>
          <p:nvPr/>
        </p:nvSpPr>
        <p:spPr>
          <a:xfrm>
            <a:off x="8641080" y="525780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Silver</a:t>
            </a:r>
            <a:endParaRPr/>
          </a:p>
        </p:txBody>
      </p:sp>
      <p:sp>
        <p:nvSpPr>
          <p:cNvPr id="347" name="Google Shape;347;p6"/>
          <p:cNvSpPr txBox="1"/>
          <p:nvPr/>
        </p:nvSpPr>
        <p:spPr>
          <a:xfrm>
            <a:off x="9674352" y="5294376"/>
            <a:ext cx="20299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Limpos + deduplicados + validados</a:t>
            </a:r>
            <a:endParaRPr/>
          </a:p>
        </p:txBody>
      </p:sp>
      <p:sp>
        <p:nvSpPr>
          <p:cNvPr id="348" name="Google Shape;348;p6"/>
          <p:cNvSpPr/>
          <p:nvPr/>
        </p:nvSpPr>
        <p:spPr>
          <a:xfrm>
            <a:off x="8275320" y="5769864"/>
            <a:ext cx="292608" cy="292608"/>
          </a:xfrm>
          <a:prstGeom prst="ellipse">
            <a:avLst/>
          </a:prstGeom>
          <a:solidFill>
            <a:srgbClr val="F5C51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6"/>
          <p:cNvSpPr txBox="1"/>
          <p:nvPr/>
        </p:nvSpPr>
        <p:spPr>
          <a:xfrm>
            <a:off x="8641080" y="5733288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Gold</a:t>
            </a:r>
            <a:endParaRPr/>
          </a:p>
        </p:txBody>
      </p:sp>
      <p:sp>
        <p:nvSpPr>
          <p:cNvPr id="350" name="Google Shape;350;p6"/>
          <p:cNvSpPr txBox="1"/>
          <p:nvPr/>
        </p:nvSpPr>
        <p:spPr>
          <a:xfrm>
            <a:off x="9674352" y="5769864"/>
            <a:ext cx="20299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86 features para ML + dashboards</a:t>
            </a:r>
            <a:endParaRPr/>
          </a:p>
        </p:txBody>
      </p:sp>
      <p:sp>
        <p:nvSpPr>
          <p:cNvPr id="351" name="Google Shape;351;p6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pic>
        <p:nvPicPr>
          <p:cNvPr id="352" name="Google Shape;352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" y="1618512"/>
            <a:ext cx="8061046" cy="439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7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40B1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7"/>
          <p:cNvSpPr/>
          <p:nvPr/>
        </p:nvSpPr>
        <p:spPr>
          <a:xfrm>
            <a:off x="502920" y="164592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7"/>
          <p:cNvSpPr txBox="1"/>
          <p:nvPr/>
        </p:nvSpPr>
        <p:spPr>
          <a:xfrm>
            <a:off x="685800" y="13716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Diagrama de Domínios e Serviços</a:t>
            </a:r>
            <a:endParaRPr/>
          </a:p>
        </p:txBody>
      </p:sp>
      <p:sp>
        <p:nvSpPr>
          <p:cNvPr id="361" name="Google Shape;361;p7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pic>
        <p:nvPicPr>
          <p:cNvPr id="362" name="Google Shape;3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8750" y="685800"/>
            <a:ext cx="10431450" cy="5689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8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8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40B1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502920" y="164592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8"/>
          <p:cNvSpPr txBox="1"/>
          <p:nvPr/>
        </p:nvSpPr>
        <p:spPr>
          <a:xfrm>
            <a:off x="685800" y="13716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Tecnologias — Stack Open-Source</a:t>
            </a:r>
            <a:endParaRPr/>
          </a:p>
        </p:txBody>
      </p:sp>
      <p:sp>
        <p:nvSpPr>
          <p:cNvPr id="371" name="Google Shape;371;p8"/>
          <p:cNvSpPr txBox="1"/>
          <p:nvPr/>
        </p:nvSpPr>
        <p:spPr>
          <a:xfrm>
            <a:off x="685800" y="640080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Cada escolha justificada e viável em hardware local (8–16 GB RAM)</a:t>
            </a:r>
            <a:endParaRPr/>
          </a:p>
        </p:txBody>
      </p:sp>
      <p:sp>
        <p:nvSpPr>
          <p:cNvPr id="372" name="Google Shape;372;p8"/>
          <p:cNvSpPr/>
          <p:nvPr/>
        </p:nvSpPr>
        <p:spPr>
          <a:xfrm>
            <a:off x="320040" y="1143000"/>
            <a:ext cx="2788920" cy="5257800"/>
          </a:xfrm>
          <a:prstGeom prst="rect">
            <a:avLst/>
          </a:prstGeom>
          <a:solidFill>
            <a:srgbClr val="122642"/>
          </a:solidFill>
          <a:ln w="9525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320040" y="1143000"/>
            <a:ext cx="2788920" cy="475488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8"/>
          <p:cNvSpPr txBox="1"/>
          <p:nvPr/>
        </p:nvSpPr>
        <p:spPr>
          <a:xfrm>
            <a:off x="393192" y="1161288"/>
            <a:ext cx="26517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Ingestão</a:t>
            </a:r>
            <a:endParaRPr/>
          </a:p>
        </p:txBody>
      </p:sp>
      <p:sp>
        <p:nvSpPr>
          <p:cNvPr id="375" name="Google Shape;375;p8"/>
          <p:cNvSpPr txBox="1"/>
          <p:nvPr/>
        </p:nvSpPr>
        <p:spPr>
          <a:xfrm>
            <a:off x="457200" y="1737360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Requests+Schedule</a:t>
            </a:r>
            <a:endParaRPr/>
          </a:p>
        </p:txBody>
      </p:sp>
      <p:sp>
        <p:nvSpPr>
          <p:cNvPr id="376" name="Google Shape;376;p8"/>
          <p:cNvSpPr txBox="1"/>
          <p:nvPr/>
        </p:nvSpPr>
        <p:spPr>
          <a:xfrm>
            <a:off x="457200" y="2039112"/>
            <a:ext cx="2514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Polling de APIs REST — simplicidade + controle total, sem overhead</a:t>
            </a:r>
            <a:endParaRPr/>
          </a:p>
        </p:txBody>
      </p:sp>
      <p:sp>
        <p:nvSpPr>
          <p:cNvPr id="377" name="Google Shape;377;p8"/>
          <p:cNvSpPr txBox="1"/>
          <p:nvPr/>
        </p:nvSpPr>
        <p:spPr>
          <a:xfrm>
            <a:off x="457200" y="2697480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IQAir / INMET / Open-Meteo</a:t>
            </a:r>
            <a:endParaRPr/>
          </a:p>
        </p:txBody>
      </p:sp>
      <p:sp>
        <p:nvSpPr>
          <p:cNvPr id="378" name="Google Shape;378;p8"/>
          <p:cNvSpPr txBox="1"/>
          <p:nvPr/>
        </p:nvSpPr>
        <p:spPr>
          <a:xfrm>
            <a:off x="457200" y="2999232"/>
            <a:ext cx="2514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APIs REST públicas e gratuitas — 3 fontes complementares</a:t>
            </a:r>
            <a:endParaRPr/>
          </a:p>
        </p:txBody>
      </p:sp>
      <p:sp>
        <p:nvSpPr>
          <p:cNvPr id="379" name="Google Shape;379;p8"/>
          <p:cNvSpPr txBox="1"/>
          <p:nvPr/>
        </p:nvSpPr>
        <p:spPr>
          <a:xfrm>
            <a:off x="457200" y="3657600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MinIO Bronze</a:t>
            </a:r>
            <a:endParaRPr/>
          </a:p>
        </p:txBody>
      </p:sp>
      <p:sp>
        <p:nvSpPr>
          <p:cNvPr id="380" name="Google Shape;380;p8"/>
          <p:cNvSpPr txBox="1"/>
          <p:nvPr/>
        </p:nvSpPr>
        <p:spPr>
          <a:xfrm>
            <a:off x="457200" y="3959352"/>
            <a:ext cx="2514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JSON bruto gravado imediatamente — S3-compatível, sem vendor lock-in</a:t>
            </a:r>
            <a:endParaRPr/>
          </a:p>
        </p:txBody>
      </p:sp>
      <p:sp>
        <p:nvSpPr>
          <p:cNvPr id="381" name="Google Shape;381;p8"/>
          <p:cNvSpPr/>
          <p:nvPr/>
        </p:nvSpPr>
        <p:spPr>
          <a:xfrm>
            <a:off x="3291840" y="1143000"/>
            <a:ext cx="2788920" cy="5257800"/>
          </a:xfrm>
          <a:prstGeom prst="rect">
            <a:avLst/>
          </a:prstGeom>
          <a:solidFill>
            <a:srgbClr val="122642"/>
          </a:solidFill>
          <a:ln w="9525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8"/>
          <p:cNvSpPr/>
          <p:nvPr/>
        </p:nvSpPr>
        <p:spPr>
          <a:xfrm>
            <a:off x="3291840" y="1143000"/>
            <a:ext cx="2788920" cy="475488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8"/>
          <p:cNvSpPr txBox="1"/>
          <p:nvPr/>
        </p:nvSpPr>
        <p:spPr>
          <a:xfrm>
            <a:off x="3364992" y="1161288"/>
            <a:ext cx="26517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Armazenamento</a:t>
            </a:r>
            <a:endParaRPr/>
          </a:p>
        </p:txBody>
      </p:sp>
      <p:sp>
        <p:nvSpPr>
          <p:cNvPr id="384" name="Google Shape;384;p8"/>
          <p:cNvSpPr txBox="1"/>
          <p:nvPr/>
        </p:nvSpPr>
        <p:spPr>
          <a:xfrm>
            <a:off x="3429000" y="1737360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MinIO (object storage)</a:t>
            </a:r>
            <a:endParaRPr/>
          </a:p>
        </p:txBody>
      </p:sp>
      <p:sp>
        <p:nvSpPr>
          <p:cNvPr id="385" name="Google Shape;385;p8"/>
          <p:cNvSpPr txBox="1"/>
          <p:nvPr/>
        </p:nvSpPr>
        <p:spPr>
          <a:xfrm>
            <a:off x="3429000" y="2039112"/>
            <a:ext cx="2514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100% compatível com S3 — migração zero-custo para AWS/GCP</a:t>
            </a:r>
            <a:endParaRPr/>
          </a:p>
        </p:txBody>
      </p:sp>
      <p:sp>
        <p:nvSpPr>
          <p:cNvPr id="386" name="Google Shape;386;p8"/>
          <p:cNvSpPr txBox="1"/>
          <p:nvPr/>
        </p:nvSpPr>
        <p:spPr>
          <a:xfrm>
            <a:off x="3429000" y="2697480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Delta Lake</a:t>
            </a:r>
            <a:endParaRPr/>
          </a:p>
        </p:txBody>
      </p:sp>
      <p:sp>
        <p:nvSpPr>
          <p:cNvPr id="387" name="Google Shape;387;p8"/>
          <p:cNvSpPr txBox="1"/>
          <p:nvPr/>
        </p:nvSpPr>
        <p:spPr>
          <a:xfrm>
            <a:off x="3429000" y="2999232"/>
            <a:ext cx="2514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ACID + time travel + schema evolution sobre Parquet</a:t>
            </a:r>
            <a:endParaRPr/>
          </a:p>
        </p:txBody>
      </p:sp>
      <p:sp>
        <p:nvSpPr>
          <p:cNvPr id="388" name="Google Shape;388;p8"/>
          <p:cNvSpPr txBox="1"/>
          <p:nvPr/>
        </p:nvSpPr>
        <p:spPr>
          <a:xfrm>
            <a:off x="3429000" y="3657600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Apache Spark (PySpark)</a:t>
            </a:r>
            <a:endParaRPr/>
          </a:p>
        </p:txBody>
      </p:sp>
      <p:sp>
        <p:nvSpPr>
          <p:cNvPr id="389" name="Google Shape;389;p8"/>
          <p:cNvSpPr txBox="1"/>
          <p:nvPr/>
        </p:nvSpPr>
        <p:spPr>
          <a:xfrm>
            <a:off x="3429000" y="3959352"/>
            <a:ext cx="2514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Batch distribuído — dedup, outlier clip, rolling windows</a:t>
            </a:r>
            <a:endParaRPr/>
          </a:p>
        </p:txBody>
      </p:sp>
      <p:sp>
        <p:nvSpPr>
          <p:cNvPr id="390" name="Google Shape;390;p8"/>
          <p:cNvSpPr/>
          <p:nvPr/>
        </p:nvSpPr>
        <p:spPr>
          <a:xfrm>
            <a:off x="6263640" y="1143000"/>
            <a:ext cx="2788920" cy="5257800"/>
          </a:xfrm>
          <a:prstGeom prst="rect">
            <a:avLst/>
          </a:prstGeom>
          <a:solidFill>
            <a:srgbClr val="122642"/>
          </a:solidFill>
          <a:ln w="9525" cap="flat" cmpd="sng">
            <a:solidFill>
              <a:srgbClr val="F5C51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8"/>
          <p:cNvSpPr/>
          <p:nvPr/>
        </p:nvSpPr>
        <p:spPr>
          <a:xfrm>
            <a:off x="6263640" y="1143000"/>
            <a:ext cx="2788920" cy="475488"/>
          </a:xfrm>
          <a:prstGeom prst="rect">
            <a:avLst/>
          </a:prstGeom>
          <a:solidFill>
            <a:srgbClr val="F5C51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8"/>
          <p:cNvSpPr txBox="1"/>
          <p:nvPr/>
        </p:nvSpPr>
        <p:spPr>
          <a:xfrm>
            <a:off x="6336792" y="1161288"/>
            <a:ext cx="26517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Transformação &amp; ML</a:t>
            </a:r>
            <a:endParaRPr/>
          </a:p>
        </p:txBody>
      </p:sp>
      <p:sp>
        <p:nvSpPr>
          <p:cNvPr id="393" name="Google Shape;393;p8"/>
          <p:cNvSpPr txBox="1"/>
          <p:nvPr/>
        </p:nvSpPr>
        <p:spPr>
          <a:xfrm>
            <a:off x="6400800" y="1737360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dbt (data build tool)</a:t>
            </a:r>
            <a:endParaRPr/>
          </a:p>
        </p:txBody>
      </p:sp>
      <p:sp>
        <p:nvSpPr>
          <p:cNvPr id="394" name="Google Shape;394;p8"/>
          <p:cNvSpPr txBox="1"/>
          <p:nvPr/>
        </p:nvSpPr>
        <p:spPr>
          <a:xfrm>
            <a:off x="6400800" y="2039112"/>
            <a:ext cx="2514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SQL versionado no Git — Silver→Gold, testes automáticos, lineage</a:t>
            </a:r>
            <a:endParaRPr/>
          </a:p>
        </p:txBody>
      </p:sp>
      <p:sp>
        <p:nvSpPr>
          <p:cNvPr id="395" name="Google Shape;395;p8"/>
          <p:cNvSpPr txBox="1"/>
          <p:nvPr/>
        </p:nvSpPr>
        <p:spPr>
          <a:xfrm>
            <a:off x="6400800" y="2697480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Great Expectations</a:t>
            </a:r>
            <a:endParaRPr/>
          </a:p>
        </p:txBody>
      </p:sp>
      <p:sp>
        <p:nvSpPr>
          <p:cNvPr id="396" name="Google Shape;396;p8"/>
          <p:cNvSpPr txBox="1"/>
          <p:nvPr/>
        </p:nvSpPr>
        <p:spPr>
          <a:xfrm>
            <a:off x="6400800" y="2999232"/>
            <a:ext cx="2514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Valida not_null, in_range, unique antes de cada camada</a:t>
            </a:r>
            <a:endParaRPr/>
          </a:p>
        </p:txBody>
      </p:sp>
      <p:sp>
        <p:nvSpPr>
          <p:cNvPr id="397" name="Google Shape;397;p8"/>
          <p:cNvSpPr txBox="1"/>
          <p:nvPr/>
        </p:nvSpPr>
        <p:spPr>
          <a:xfrm>
            <a:off x="6400800" y="3657600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XGBoost + MLflow</a:t>
            </a:r>
            <a:endParaRPr/>
          </a:p>
        </p:txBody>
      </p:sp>
      <p:sp>
        <p:nvSpPr>
          <p:cNvPr id="398" name="Google Shape;398;p8"/>
          <p:cNvSpPr txBox="1"/>
          <p:nvPr/>
        </p:nvSpPr>
        <p:spPr>
          <a:xfrm>
            <a:off x="6400800" y="3959352"/>
            <a:ext cx="2514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Robusto para séries temporais tabulares — rastreia versões</a:t>
            </a:r>
            <a:endParaRPr/>
          </a:p>
        </p:txBody>
      </p:sp>
      <p:sp>
        <p:nvSpPr>
          <p:cNvPr id="399" name="Google Shape;399;p8"/>
          <p:cNvSpPr/>
          <p:nvPr/>
        </p:nvSpPr>
        <p:spPr>
          <a:xfrm>
            <a:off x="9235440" y="1143000"/>
            <a:ext cx="2788920" cy="5257800"/>
          </a:xfrm>
          <a:prstGeom prst="rect">
            <a:avLst/>
          </a:prstGeom>
          <a:solidFill>
            <a:srgbClr val="122642"/>
          </a:solidFill>
          <a:ln w="9525" cap="flat" cmpd="sng">
            <a:solidFill>
              <a:srgbClr val="2DC65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8"/>
          <p:cNvSpPr/>
          <p:nvPr/>
        </p:nvSpPr>
        <p:spPr>
          <a:xfrm>
            <a:off x="9235440" y="1143000"/>
            <a:ext cx="2788920" cy="475488"/>
          </a:xfrm>
          <a:prstGeom prst="rect">
            <a:avLst/>
          </a:prstGeom>
          <a:solidFill>
            <a:srgbClr val="2DC6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8"/>
          <p:cNvSpPr txBox="1"/>
          <p:nvPr/>
        </p:nvSpPr>
        <p:spPr>
          <a:xfrm>
            <a:off x="9308592" y="1161288"/>
            <a:ext cx="26517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Orquestração &amp; Entrega</a:t>
            </a:r>
            <a:endParaRPr/>
          </a:p>
        </p:txBody>
      </p:sp>
      <p:sp>
        <p:nvSpPr>
          <p:cNvPr id="402" name="Google Shape;402;p8"/>
          <p:cNvSpPr txBox="1"/>
          <p:nvPr/>
        </p:nvSpPr>
        <p:spPr>
          <a:xfrm>
            <a:off x="9372600" y="1737360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Apache Airflow</a:t>
            </a:r>
            <a:endParaRPr/>
          </a:p>
        </p:txBody>
      </p:sp>
      <p:sp>
        <p:nvSpPr>
          <p:cNvPr id="403" name="Google Shape;403;p8"/>
          <p:cNvSpPr txBox="1"/>
          <p:nvPr/>
        </p:nvSpPr>
        <p:spPr>
          <a:xfrm>
            <a:off x="9372600" y="2039112"/>
            <a:ext cx="2514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DAGs Python — retry com backoff exp., maior ecossistema de operadores</a:t>
            </a:r>
            <a:endParaRPr/>
          </a:p>
        </p:txBody>
      </p:sp>
      <p:sp>
        <p:nvSpPr>
          <p:cNvPr id="404" name="Google Shape;404;p8"/>
          <p:cNvSpPr txBox="1"/>
          <p:nvPr/>
        </p:nvSpPr>
        <p:spPr>
          <a:xfrm>
            <a:off x="9372600" y="2697480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Flask API REST</a:t>
            </a:r>
            <a:endParaRPr/>
          </a:p>
        </p:txBody>
      </p:sp>
      <p:sp>
        <p:nvSpPr>
          <p:cNvPr id="405" name="Google Shape;405;p8"/>
          <p:cNvSpPr txBox="1"/>
          <p:nvPr/>
        </p:nvSpPr>
        <p:spPr>
          <a:xfrm>
            <a:off x="9372600" y="2999232"/>
            <a:ext cx="2514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Endpoint /predict — latência alvo &lt; 500 ms para score MotoAR</a:t>
            </a:r>
            <a:endParaRPr/>
          </a:p>
        </p:txBody>
      </p:sp>
      <p:sp>
        <p:nvSpPr>
          <p:cNvPr id="406" name="Google Shape;406;p8"/>
          <p:cNvSpPr txBox="1"/>
          <p:nvPr/>
        </p:nvSpPr>
        <p:spPr>
          <a:xfrm>
            <a:off x="9372600" y="3657600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Metabase + Grafana</a:t>
            </a:r>
            <a:endParaRPr/>
          </a:p>
        </p:txBody>
      </p:sp>
      <p:sp>
        <p:nvSpPr>
          <p:cNvPr id="407" name="Google Shape;407;p8"/>
          <p:cNvSpPr txBox="1"/>
          <p:nvPr/>
        </p:nvSpPr>
        <p:spPr>
          <a:xfrm>
            <a:off x="9372600" y="3959352"/>
            <a:ext cx="2514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Dashboards analíticos Gold + alertas SLA em tempo real</a:t>
            </a:r>
            <a:endParaRPr/>
          </a:p>
        </p:txBody>
      </p:sp>
      <p:sp>
        <p:nvSpPr>
          <p:cNvPr id="408" name="Google Shape;408;p8"/>
          <p:cNvSpPr txBox="1"/>
          <p:nvPr/>
        </p:nvSpPr>
        <p:spPr>
          <a:xfrm>
            <a:off x="320040" y="640080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Governança:</a:t>
            </a:r>
            <a:endParaRPr/>
          </a:p>
        </p:txBody>
      </p:sp>
      <p:sp>
        <p:nvSpPr>
          <p:cNvPr id="409" name="Google Shape;409;p8"/>
          <p:cNvSpPr/>
          <p:nvPr/>
        </p:nvSpPr>
        <p:spPr>
          <a:xfrm>
            <a:off x="2057400" y="6355080"/>
            <a:ext cx="1901952" cy="47548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8"/>
          <p:cNvSpPr txBox="1"/>
          <p:nvPr/>
        </p:nvSpPr>
        <p:spPr>
          <a:xfrm>
            <a:off x="2121408" y="6373368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Great Expectations — Qualidade</a:t>
            </a:r>
            <a:endParaRPr/>
          </a:p>
        </p:txBody>
      </p:sp>
      <p:sp>
        <p:nvSpPr>
          <p:cNvPr id="411" name="Google Shape;411;p8"/>
          <p:cNvSpPr/>
          <p:nvPr/>
        </p:nvSpPr>
        <p:spPr>
          <a:xfrm>
            <a:off x="4087368" y="6355080"/>
            <a:ext cx="1901952" cy="47548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8"/>
          <p:cNvSpPr txBox="1"/>
          <p:nvPr/>
        </p:nvSpPr>
        <p:spPr>
          <a:xfrm>
            <a:off x="4151376" y="6373368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Delta Lake time travel — Rastreabilidade</a:t>
            </a:r>
            <a:endParaRPr/>
          </a:p>
        </p:txBody>
      </p:sp>
      <p:sp>
        <p:nvSpPr>
          <p:cNvPr id="413" name="Google Shape;413;p8"/>
          <p:cNvSpPr/>
          <p:nvPr/>
        </p:nvSpPr>
        <p:spPr>
          <a:xfrm>
            <a:off x="6117336" y="6355080"/>
            <a:ext cx="1901952" cy="47548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8"/>
          <p:cNvSpPr txBox="1"/>
          <p:nvPr/>
        </p:nvSpPr>
        <p:spPr>
          <a:xfrm>
            <a:off x="6181344" y="6373368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dbt docs + lineage — Lineage</a:t>
            </a:r>
            <a:endParaRPr/>
          </a:p>
        </p:txBody>
      </p:sp>
      <p:sp>
        <p:nvSpPr>
          <p:cNvPr id="415" name="Google Shape;415;p8"/>
          <p:cNvSpPr/>
          <p:nvPr/>
        </p:nvSpPr>
        <p:spPr>
          <a:xfrm>
            <a:off x="8147304" y="6355080"/>
            <a:ext cx="1901952" cy="47548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8"/>
          <p:cNvSpPr txBox="1"/>
          <p:nvPr/>
        </p:nvSpPr>
        <p:spPr>
          <a:xfrm>
            <a:off x="8211312" y="6373368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Grafana + Prometheus — Observab.</a:t>
            </a:r>
            <a:endParaRPr/>
          </a:p>
        </p:txBody>
      </p:sp>
      <p:sp>
        <p:nvSpPr>
          <p:cNvPr id="417" name="Google Shape;417;p8"/>
          <p:cNvSpPr/>
          <p:nvPr/>
        </p:nvSpPr>
        <p:spPr>
          <a:xfrm>
            <a:off x="10177272" y="6355080"/>
            <a:ext cx="1901952" cy="475488"/>
          </a:xfrm>
          <a:prstGeom prst="rect">
            <a:avLst/>
          </a:prstGeom>
          <a:solidFill>
            <a:srgbClr val="0D1E3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8"/>
          <p:cNvSpPr txBox="1"/>
          <p:nvPr/>
        </p:nvSpPr>
        <p:spPr>
          <a:xfrm>
            <a:off x="10241280" y="6373368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Docker Compose — Portabilidade</a:t>
            </a:r>
            <a:endParaRPr/>
          </a:p>
        </p:txBody>
      </p:sp>
      <p:sp>
        <p:nvSpPr>
          <p:cNvPr id="419" name="Google Shape;419;p8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9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40B1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9"/>
          <p:cNvSpPr/>
          <p:nvPr/>
        </p:nvSpPr>
        <p:spPr>
          <a:xfrm>
            <a:off x="502920" y="164592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9"/>
          <p:cNvSpPr txBox="1"/>
          <p:nvPr/>
        </p:nvSpPr>
        <p:spPr>
          <a:xfrm>
            <a:off x="685800" y="13716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Análise Exploratória de Dados (EDA)</a:t>
            </a:r>
            <a:endParaRPr/>
          </a:p>
        </p:txBody>
      </p:sp>
      <p:sp>
        <p:nvSpPr>
          <p:cNvPr id="428" name="Google Shape;428;p9"/>
          <p:cNvSpPr txBox="1"/>
          <p:nvPr/>
        </p:nvSpPr>
        <p:spPr>
          <a:xfrm>
            <a:off x="685800" y="640080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45.061 registros · INMET 2025 · IQAir março/2026</a:t>
            </a:r>
            <a:endParaRPr/>
          </a:p>
        </p:txBody>
      </p:sp>
      <p:sp>
        <p:nvSpPr>
          <p:cNvPr id="429" name="Google Shape;429;p9"/>
          <p:cNvSpPr/>
          <p:nvPr/>
        </p:nvSpPr>
        <p:spPr>
          <a:xfrm>
            <a:off x="457200" y="1143000"/>
            <a:ext cx="5394960" cy="5047488"/>
          </a:xfrm>
          <a:prstGeom prst="rect">
            <a:avLst/>
          </a:prstGeom>
          <a:solidFill>
            <a:srgbClr val="122642"/>
          </a:solidFill>
          <a:ln w="9525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9"/>
          <p:cNvSpPr/>
          <p:nvPr/>
        </p:nvSpPr>
        <p:spPr>
          <a:xfrm>
            <a:off x="457200" y="1261872"/>
            <a:ext cx="54864" cy="50292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9"/>
          <p:cNvSpPr txBox="1"/>
          <p:nvPr/>
        </p:nvSpPr>
        <p:spPr>
          <a:xfrm>
            <a:off x="667512" y="118872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PM2.5 — INMET Fercal 2025</a:t>
            </a:r>
            <a:endParaRPr/>
          </a:p>
        </p:txBody>
      </p:sp>
      <p:sp>
        <p:nvSpPr>
          <p:cNvPr id="432" name="Google Shape;432;p9"/>
          <p:cNvSpPr txBox="1"/>
          <p:nvPr/>
        </p:nvSpPr>
        <p:spPr>
          <a:xfrm>
            <a:off x="640080" y="182880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PM2.5 médio anual</a:t>
            </a:r>
            <a:endParaRPr/>
          </a:p>
        </p:txBody>
      </p:sp>
      <p:sp>
        <p:nvSpPr>
          <p:cNvPr id="433" name="Google Shape;433;p9"/>
          <p:cNvSpPr txBox="1"/>
          <p:nvPr/>
        </p:nvSpPr>
        <p:spPr>
          <a:xfrm>
            <a:off x="3291840" y="1828800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11,55 µg/m³</a:t>
            </a:r>
            <a:endParaRPr/>
          </a:p>
        </p:txBody>
      </p:sp>
      <p:sp>
        <p:nvSpPr>
          <p:cNvPr id="434" name="Google Shape;434;p9"/>
          <p:cNvSpPr txBox="1"/>
          <p:nvPr/>
        </p:nvSpPr>
        <p:spPr>
          <a:xfrm>
            <a:off x="640080" y="2304288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Desvio padrão</a:t>
            </a:r>
            <a:endParaRPr/>
          </a:p>
        </p:txBody>
      </p:sp>
      <p:sp>
        <p:nvSpPr>
          <p:cNvPr id="435" name="Google Shape;435;p9"/>
          <p:cNvSpPr txBox="1"/>
          <p:nvPr/>
        </p:nvSpPr>
        <p:spPr>
          <a:xfrm>
            <a:off x="3291840" y="2304288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11,91 µg/m³</a:t>
            </a:r>
            <a:endParaRPr/>
          </a:p>
        </p:txBody>
      </p:sp>
      <p:sp>
        <p:nvSpPr>
          <p:cNvPr id="436" name="Google Shape;436;p9"/>
          <p:cNvSpPr txBox="1"/>
          <p:nvPr/>
        </p:nvSpPr>
        <p:spPr>
          <a:xfrm>
            <a:off x="640080" y="2779776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Pico máximo (out/25)</a:t>
            </a:r>
            <a:endParaRPr/>
          </a:p>
        </p:txBody>
      </p:sp>
      <p:sp>
        <p:nvSpPr>
          <p:cNvPr id="437" name="Google Shape;437;p9"/>
          <p:cNvSpPr txBox="1"/>
          <p:nvPr/>
        </p:nvSpPr>
        <p:spPr>
          <a:xfrm>
            <a:off x="3291840" y="2779776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2222"/>
                </a:solidFill>
                <a:latin typeface="Calibri"/>
                <a:ea typeface="Calibri"/>
                <a:cs typeface="Calibri"/>
                <a:sym typeface="Calibri"/>
              </a:rPr>
              <a:t>156,9 µg/m³</a:t>
            </a:r>
            <a:endParaRPr/>
          </a:p>
        </p:txBody>
      </p:sp>
      <p:sp>
        <p:nvSpPr>
          <p:cNvPr id="438" name="Google Shape;438;p9"/>
          <p:cNvSpPr txBox="1"/>
          <p:nvPr/>
        </p:nvSpPr>
        <p:spPr>
          <a:xfrm>
            <a:off x="640080" y="3255264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Mediana (P50)</a:t>
            </a:r>
            <a:endParaRPr/>
          </a:p>
        </p:txBody>
      </p:sp>
      <p:sp>
        <p:nvSpPr>
          <p:cNvPr id="439" name="Google Shape;439;p9"/>
          <p:cNvSpPr txBox="1"/>
          <p:nvPr/>
        </p:nvSpPr>
        <p:spPr>
          <a:xfrm>
            <a:off x="3291840" y="3255264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7,32 µg/m³</a:t>
            </a:r>
            <a:endParaRPr/>
          </a:p>
        </p:txBody>
      </p:sp>
      <p:sp>
        <p:nvSpPr>
          <p:cNvPr id="440" name="Google Shape;440;p9"/>
          <p:cNvSpPr txBox="1"/>
          <p:nvPr/>
        </p:nvSpPr>
        <p:spPr>
          <a:xfrm>
            <a:off x="640080" y="3730752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P95</a:t>
            </a:r>
            <a:endParaRPr/>
          </a:p>
        </p:txBody>
      </p:sp>
      <p:sp>
        <p:nvSpPr>
          <p:cNvPr id="441" name="Google Shape;441;p9"/>
          <p:cNvSpPr txBox="1"/>
          <p:nvPr/>
        </p:nvSpPr>
        <p:spPr>
          <a:xfrm>
            <a:off x="3291840" y="3730752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35,66 µg/m³ — Ruim (OMS)</a:t>
            </a:r>
            <a:endParaRPr/>
          </a:p>
        </p:txBody>
      </p:sp>
      <p:sp>
        <p:nvSpPr>
          <p:cNvPr id="442" name="Google Shape;442;p9"/>
          <p:cNvSpPr txBox="1"/>
          <p:nvPr/>
        </p:nvSpPr>
        <p:spPr>
          <a:xfrm>
            <a:off x="640080" y="420624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P99</a:t>
            </a:r>
            <a:endParaRPr/>
          </a:p>
        </p:txBody>
      </p:sp>
      <p:sp>
        <p:nvSpPr>
          <p:cNvPr id="443" name="Google Shape;443;p9"/>
          <p:cNvSpPr txBox="1"/>
          <p:nvPr/>
        </p:nvSpPr>
        <p:spPr>
          <a:xfrm>
            <a:off x="3291840" y="4206240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2222"/>
                </a:solidFill>
                <a:latin typeface="Calibri"/>
                <a:ea typeface="Calibri"/>
                <a:cs typeface="Calibri"/>
                <a:sym typeface="Calibri"/>
              </a:rPr>
              <a:t>54,44 µg/m³ — Perigoso</a:t>
            </a:r>
            <a:endParaRPr/>
          </a:p>
        </p:txBody>
      </p:sp>
      <p:sp>
        <p:nvSpPr>
          <p:cNvPr id="444" name="Google Shape;444;p9"/>
          <p:cNvSpPr txBox="1"/>
          <p:nvPr/>
        </p:nvSpPr>
        <p:spPr>
          <a:xfrm>
            <a:off x="640080" y="4681727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Estação seca vs chuvosa</a:t>
            </a:r>
            <a:endParaRPr/>
          </a:p>
        </p:txBody>
      </p:sp>
      <p:sp>
        <p:nvSpPr>
          <p:cNvPr id="445" name="Google Shape;445;p9"/>
          <p:cNvSpPr txBox="1"/>
          <p:nvPr/>
        </p:nvSpPr>
        <p:spPr>
          <a:xfrm>
            <a:off x="3291840" y="4681727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5,3× maior (22,3 vs 4,2 µg/m³)</a:t>
            </a:r>
            <a:endParaRPr/>
          </a:p>
        </p:txBody>
      </p:sp>
      <p:sp>
        <p:nvSpPr>
          <p:cNvPr id="446" name="Google Shape;446;p9"/>
          <p:cNvSpPr/>
          <p:nvPr/>
        </p:nvSpPr>
        <p:spPr>
          <a:xfrm>
            <a:off x="6126480" y="1143000"/>
            <a:ext cx="5577840" cy="5047488"/>
          </a:xfrm>
          <a:prstGeom prst="rect">
            <a:avLst/>
          </a:prstGeom>
          <a:solidFill>
            <a:srgbClr val="122642"/>
          </a:solidFill>
          <a:ln w="9525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9"/>
          <p:cNvSpPr/>
          <p:nvPr/>
        </p:nvSpPr>
        <p:spPr>
          <a:xfrm>
            <a:off x="6126480" y="1261872"/>
            <a:ext cx="54864" cy="50292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9"/>
          <p:cNvSpPr txBox="1"/>
          <p:nvPr/>
        </p:nvSpPr>
        <p:spPr>
          <a:xfrm>
            <a:off x="6336792" y="118872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Achados-Chave para o Modelo</a:t>
            </a:r>
            <a:endParaRPr/>
          </a:p>
        </p:txBody>
      </p:sp>
      <p:sp>
        <p:nvSpPr>
          <p:cNvPr id="449" name="Google Shape;449;p9"/>
          <p:cNvSpPr txBox="1"/>
          <p:nvPr/>
        </p:nvSpPr>
        <p:spPr>
          <a:xfrm>
            <a:off x="6336792" y="1847088"/>
            <a:ext cx="52120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📈 Duplo pico horário</a:t>
            </a:r>
            <a:endParaRPr/>
          </a:p>
        </p:txBody>
      </p:sp>
      <p:sp>
        <p:nvSpPr>
          <p:cNvPr id="450" name="Google Shape;450;p9"/>
          <p:cNvSpPr txBox="1"/>
          <p:nvPr/>
        </p:nvSpPr>
        <p:spPr>
          <a:xfrm>
            <a:off x="6336792" y="214884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7–9h (tráfego) e 19–21h (inversão térmica) → features cíclicas seno/cosseno da hora</a:t>
            </a:r>
            <a:endParaRPr/>
          </a:p>
        </p:txBody>
      </p:sp>
      <p:sp>
        <p:nvSpPr>
          <p:cNvPr id="451" name="Google Shape;451;p9"/>
          <p:cNvSpPr txBox="1"/>
          <p:nvPr/>
        </p:nvSpPr>
        <p:spPr>
          <a:xfrm>
            <a:off x="6336792" y="2651760"/>
            <a:ext cx="52120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🌧️ Efeito da chuva</a:t>
            </a:r>
            <a:endParaRPr/>
          </a:p>
        </p:txBody>
      </p:sp>
      <p:sp>
        <p:nvSpPr>
          <p:cNvPr id="452" name="Google Shape;452;p9"/>
          <p:cNvSpPr txBox="1"/>
          <p:nvPr/>
        </p:nvSpPr>
        <p:spPr>
          <a:xfrm>
            <a:off x="6336792" y="2953512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Dias com &gt; 5mm de chuva → redução de 34% no PM2.5 → feature chuva acumulada 6h</a:t>
            </a:r>
            <a:endParaRPr/>
          </a:p>
        </p:txBody>
      </p:sp>
      <p:sp>
        <p:nvSpPr>
          <p:cNvPr id="453" name="Google Shape;453;p9"/>
          <p:cNvSpPr txBox="1"/>
          <p:nvPr/>
        </p:nvSpPr>
        <p:spPr>
          <a:xfrm>
            <a:off x="6336792" y="3456432"/>
            <a:ext cx="52120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📍 Heterogeneidade espacial</a:t>
            </a:r>
            <a:endParaRPr/>
          </a:p>
        </p:txBody>
      </p:sp>
      <p:sp>
        <p:nvSpPr>
          <p:cNvPr id="454" name="Google Shape;454;p9"/>
          <p:cNvSpPr txBox="1"/>
          <p:nvPr/>
        </p:nvSpPr>
        <p:spPr>
          <a:xfrm>
            <a:off x="6336792" y="3758183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UnB Gama: AQI 13,4 vs Finatec: 7,8 → spread 70% → expansão de sensores prioritária</a:t>
            </a:r>
            <a:endParaRPr/>
          </a:p>
        </p:txBody>
      </p:sp>
      <p:sp>
        <p:nvSpPr>
          <p:cNvPr id="455" name="Google Shape;455;p9"/>
          <p:cNvSpPr txBox="1"/>
          <p:nvPr/>
        </p:nvSpPr>
        <p:spPr>
          <a:xfrm>
            <a:off x="6336792" y="4261104"/>
            <a:ext cx="52120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🔗 Correlação PM2.5 × NO2</a:t>
            </a:r>
            <a:endParaRPr/>
          </a:p>
        </p:txBody>
      </p:sp>
      <p:sp>
        <p:nvSpPr>
          <p:cNvPr id="456" name="Google Shape;456;p9"/>
          <p:cNvSpPr txBox="1"/>
          <p:nvPr/>
        </p:nvSpPr>
        <p:spPr>
          <a:xfrm>
            <a:off x="6336792" y="4562856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r = 0,47 · na estação seca NO2 explica 60% da variância → input do modelo</a:t>
            </a:r>
            <a:endParaRPr/>
          </a:p>
        </p:txBody>
      </p:sp>
      <p:sp>
        <p:nvSpPr>
          <p:cNvPr id="457" name="Google Shape;457;p9"/>
          <p:cNvSpPr txBox="1"/>
          <p:nvPr/>
        </p:nvSpPr>
        <p:spPr>
          <a:xfrm>
            <a:off x="6336792" y="5065776"/>
            <a:ext cx="52120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⚠️ Sensor frozen flag</a:t>
            </a:r>
            <a:endParaRPr/>
          </a:p>
        </p:txBody>
      </p:sp>
      <p:sp>
        <p:nvSpPr>
          <p:cNvPr id="458" name="Google Shape;458;p9"/>
          <p:cNvSpPr txBox="1"/>
          <p:nvPr/>
        </p:nvSpPr>
        <p:spPr>
          <a:xfrm>
            <a:off x="6336792" y="5367528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32.255 registros sinalizados (IQAir) → alerta de qualidade, não remoção imediata</a:t>
            </a:r>
            <a:endParaRPr/>
          </a:p>
        </p:txBody>
      </p:sp>
      <p:sp>
        <p:nvSpPr>
          <p:cNvPr id="459" name="Google Shape;459;p9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40B1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0"/>
          <p:cNvSpPr/>
          <p:nvPr/>
        </p:nvSpPr>
        <p:spPr>
          <a:xfrm>
            <a:off x="502920" y="164592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0"/>
          <p:cNvSpPr txBox="1"/>
          <p:nvPr/>
        </p:nvSpPr>
        <p:spPr>
          <a:xfrm>
            <a:off x="685800" y="13716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Trade-offs da Arquitetura</a:t>
            </a:r>
            <a:endParaRPr/>
          </a:p>
        </p:txBody>
      </p:sp>
      <p:sp>
        <p:nvSpPr>
          <p:cNvPr id="468" name="Google Shape;468;p10"/>
          <p:cNvSpPr txBox="1"/>
          <p:nvPr/>
        </p:nvSpPr>
        <p:spPr>
          <a:xfrm>
            <a:off x="685800" y="640080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Acoplamento · Escalabilidade · Disponibilidade · Confiabilidade · Reversibilidade</a:t>
            </a:r>
            <a:endParaRPr/>
          </a:p>
        </p:txBody>
      </p:sp>
      <p:sp>
        <p:nvSpPr>
          <p:cNvPr id="469" name="Google Shape;469;p10"/>
          <p:cNvSpPr/>
          <p:nvPr/>
        </p:nvSpPr>
        <p:spPr>
          <a:xfrm>
            <a:off x="320040" y="1188720"/>
            <a:ext cx="2240280" cy="4983480"/>
          </a:xfrm>
          <a:prstGeom prst="rect">
            <a:avLst/>
          </a:prstGeom>
          <a:solidFill>
            <a:srgbClr val="122642"/>
          </a:solidFill>
          <a:ln w="9525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0"/>
          <p:cNvSpPr/>
          <p:nvPr/>
        </p:nvSpPr>
        <p:spPr>
          <a:xfrm>
            <a:off x="320040" y="1188720"/>
            <a:ext cx="2240280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0"/>
          <p:cNvSpPr txBox="1"/>
          <p:nvPr/>
        </p:nvSpPr>
        <p:spPr>
          <a:xfrm>
            <a:off x="365759" y="1207008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Acoplamento</a:t>
            </a:r>
            <a:endParaRPr/>
          </a:p>
        </p:txBody>
      </p:sp>
      <p:sp>
        <p:nvSpPr>
          <p:cNvPr id="472" name="Google Shape;472;p10"/>
          <p:cNvSpPr/>
          <p:nvPr/>
        </p:nvSpPr>
        <p:spPr>
          <a:xfrm>
            <a:off x="411479" y="1737360"/>
            <a:ext cx="2029968" cy="228600"/>
          </a:xfrm>
          <a:prstGeom prst="rect">
            <a:avLst/>
          </a:prstGeom>
          <a:solidFill>
            <a:srgbClr val="064E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0"/>
          <p:cNvSpPr txBox="1"/>
          <p:nvPr/>
        </p:nvSpPr>
        <p:spPr>
          <a:xfrm>
            <a:off x="429768" y="173736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✓ Vantagem</a:t>
            </a:r>
            <a:endParaRPr/>
          </a:p>
        </p:txBody>
      </p:sp>
      <p:sp>
        <p:nvSpPr>
          <p:cNvPr id="474" name="Google Shape;474;p10"/>
          <p:cNvSpPr txBox="1"/>
          <p:nvPr/>
        </p:nvSpPr>
        <p:spPr>
          <a:xfrm>
            <a:off x="429768" y="1993392"/>
            <a:ext cx="1993392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Domínios independentes (DDD) — mudança em um domínio não impacta outros.</a:t>
            </a:r>
            <a:endParaRPr/>
          </a:p>
        </p:txBody>
      </p:sp>
      <p:sp>
        <p:nvSpPr>
          <p:cNvPr id="475" name="Google Shape;475;p10"/>
          <p:cNvSpPr/>
          <p:nvPr/>
        </p:nvSpPr>
        <p:spPr>
          <a:xfrm>
            <a:off x="411479" y="3401568"/>
            <a:ext cx="2029968" cy="228600"/>
          </a:xfrm>
          <a:prstGeom prst="rect">
            <a:avLst/>
          </a:prstGeom>
          <a:solidFill>
            <a:srgbClr val="4C1D1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0"/>
          <p:cNvSpPr txBox="1"/>
          <p:nvPr/>
        </p:nvSpPr>
        <p:spPr>
          <a:xfrm>
            <a:off x="429768" y="3401568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⚠ Risco</a:t>
            </a:r>
            <a:endParaRPr/>
          </a:p>
        </p:txBody>
      </p:sp>
      <p:sp>
        <p:nvSpPr>
          <p:cNvPr id="477" name="Google Shape;477;p10"/>
          <p:cNvSpPr txBox="1"/>
          <p:nvPr/>
        </p:nvSpPr>
        <p:spPr>
          <a:xfrm>
            <a:off x="429768" y="3657600"/>
            <a:ext cx="1993392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Requer contratos claros de dados entre domínios.</a:t>
            </a:r>
            <a:endParaRPr/>
          </a:p>
        </p:txBody>
      </p:sp>
      <p:sp>
        <p:nvSpPr>
          <p:cNvPr id="478" name="Google Shape;478;p10"/>
          <p:cNvSpPr/>
          <p:nvPr/>
        </p:nvSpPr>
        <p:spPr>
          <a:xfrm>
            <a:off x="2679192" y="1188720"/>
            <a:ext cx="2240280" cy="4983480"/>
          </a:xfrm>
          <a:prstGeom prst="rect">
            <a:avLst/>
          </a:prstGeom>
          <a:solidFill>
            <a:srgbClr val="122642"/>
          </a:solidFill>
          <a:ln w="9525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0"/>
          <p:cNvSpPr/>
          <p:nvPr/>
        </p:nvSpPr>
        <p:spPr>
          <a:xfrm>
            <a:off x="2679192" y="1188720"/>
            <a:ext cx="2240280" cy="45720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0"/>
          <p:cNvSpPr txBox="1"/>
          <p:nvPr/>
        </p:nvSpPr>
        <p:spPr>
          <a:xfrm>
            <a:off x="2724912" y="1207008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Escalabilidade</a:t>
            </a:r>
            <a:endParaRPr/>
          </a:p>
        </p:txBody>
      </p:sp>
      <p:sp>
        <p:nvSpPr>
          <p:cNvPr id="481" name="Google Shape;481;p10"/>
          <p:cNvSpPr/>
          <p:nvPr/>
        </p:nvSpPr>
        <p:spPr>
          <a:xfrm>
            <a:off x="2770632" y="1737360"/>
            <a:ext cx="2029968" cy="228600"/>
          </a:xfrm>
          <a:prstGeom prst="rect">
            <a:avLst/>
          </a:prstGeom>
          <a:solidFill>
            <a:srgbClr val="064E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0"/>
          <p:cNvSpPr txBox="1"/>
          <p:nvPr/>
        </p:nvSpPr>
        <p:spPr>
          <a:xfrm>
            <a:off x="2788920" y="173736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✓ Vantagem</a:t>
            </a:r>
            <a:endParaRPr/>
          </a:p>
        </p:txBody>
      </p:sp>
      <p:sp>
        <p:nvSpPr>
          <p:cNvPr id="483" name="Google Shape;483;p10"/>
          <p:cNvSpPr txBox="1"/>
          <p:nvPr/>
        </p:nvSpPr>
        <p:spPr>
          <a:xfrm>
            <a:off x="2788920" y="1993392"/>
            <a:ext cx="1993392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MinIO + Spark escalam horizontalmente; Delta Lake suporta volume crescente.</a:t>
            </a:r>
            <a:endParaRPr/>
          </a:p>
        </p:txBody>
      </p:sp>
      <p:sp>
        <p:nvSpPr>
          <p:cNvPr id="484" name="Google Shape;484;p10"/>
          <p:cNvSpPr/>
          <p:nvPr/>
        </p:nvSpPr>
        <p:spPr>
          <a:xfrm>
            <a:off x="2770632" y="3401568"/>
            <a:ext cx="2029968" cy="228600"/>
          </a:xfrm>
          <a:prstGeom prst="rect">
            <a:avLst/>
          </a:prstGeom>
          <a:solidFill>
            <a:srgbClr val="4C1D1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0"/>
          <p:cNvSpPr txBox="1"/>
          <p:nvPr/>
        </p:nvSpPr>
        <p:spPr>
          <a:xfrm>
            <a:off x="2788920" y="3401568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⚠ Risco</a:t>
            </a:r>
            <a:endParaRPr/>
          </a:p>
        </p:txBody>
      </p:sp>
      <p:sp>
        <p:nvSpPr>
          <p:cNvPr id="486" name="Google Shape;486;p10"/>
          <p:cNvSpPr txBox="1"/>
          <p:nvPr/>
        </p:nvSpPr>
        <p:spPr>
          <a:xfrm>
            <a:off x="2788920" y="3657600"/>
            <a:ext cx="1993392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Ambiente local tem limite de RAM/CPU para Spark local mode.</a:t>
            </a:r>
            <a:endParaRPr/>
          </a:p>
        </p:txBody>
      </p:sp>
      <p:sp>
        <p:nvSpPr>
          <p:cNvPr id="487" name="Google Shape;487;p10"/>
          <p:cNvSpPr/>
          <p:nvPr/>
        </p:nvSpPr>
        <p:spPr>
          <a:xfrm>
            <a:off x="5038344" y="1188720"/>
            <a:ext cx="2240280" cy="4983480"/>
          </a:xfrm>
          <a:prstGeom prst="rect">
            <a:avLst/>
          </a:prstGeom>
          <a:solidFill>
            <a:srgbClr val="122642"/>
          </a:solidFill>
          <a:ln w="9525" cap="flat" cmpd="sng">
            <a:solidFill>
              <a:srgbClr val="F5C51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0"/>
          <p:cNvSpPr/>
          <p:nvPr/>
        </p:nvSpPr>
        <p:spPr>
          <a:xfrm>
            <a:off x="5038344" y="1188720"/>
            <a:ext cx="2240280" cy="457200"/>
          </a:xfrm>
          <a:prstGeom prst="rect">
            <a:avLst/>
          </a:prstGeom>
          <a:solidFill>
            <a:srgbClr val="F5C51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0"/>
          <p:cNvSpPr txBox="1"/>
          <p:nvPr/>
        </p:nvSpPr>
        <p:spPr>
          <a:xfrm>
            <a:off x="5084064" y="1207008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Disponibilidade</a:t>
            </a:r>
            <a:endParaRPr/>
          </a:p>
        </p:txBody>
      </p:sp>
      <p:sp>
        <p:nvSpPr>
          <p:cNvPr id="490" name="Google Shape;490;p10"/>
          <p:cNvSpPr/>
          <p:nvPr/>
        </p:nvSpPr>
        <p:spPr>
          <a:xfrm>
            <a:off x="5129783" y="1737360"/>
            <a:ext cx="2029968" cy="228600"/>
          </a:xfrm>
          <a:prstGeom prst="rect">
            <a:avLst/>
          </a:prstGeom>
          <a:solidFill>
            <a:srgbClr val="064E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0"/>
          <p:cNvSpPr txBox="1"/>
          <p:nvPr/>
        </p:nvSpPr>
        <p:spPr>
          <a:xfrm>
            <a:off x="5148072" y="173736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✓ Vantagem</a:t>
            </a:r>
            <a:endParaRPr/>
          </a:p>
        </p:txBody>
      </p:sp>
      <p:sp>
        <p:nvSpPr>
          <p:cNvPr id="492" name="Google Shape;492;p10"/>
          <p:cNvSpPr txBox="1"/>
          <p:nvPr/>
        </p:nvSpPr>
        <p:spPr>
          <a:xfrm>
            <a:off x="5148072" y="1993392"/>
            <a:ext cx="1993392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Retry automático no Airflow; Delta Lake evita corrompimento em falha de escrita.</a:t>
            </a:r>
            <a:endParaRPr/>
          </a:p>
        </p:txBody>
      </p:sp>
      <p:sp>
        <p:nvSpPr>
          <p:cNvPr id="493" name="Google Shape;493;p10"/>
          <p:cNvSpPr/>
          <p:nvPr/>
        </p:nvSpPr>
        <p:spPr>
          <a:xfrm>
            <a:off x="5129783" y="3401568"/>
            <a:ext cx="2029968" cy="228600"/>
          </a:xfrm>
          <a:prstGeom prst="rect">
            <a:avLst/>
          </a:prstGeom>
          <a:solidFill>
            <a:srgbClr val="4C1D1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0"/>
          <p:cNvSpPr txBox="1"/>
          <p:nvPr/>
        </p:nvSpPr>
        <p:spPr>
          <a:xfrm>
            <a:off x="5148072" y="3401568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⚠ Risco</a:t>
            </a:r>
            <a:endParaRPr/>
          </a:p>
        </p:txBody>
      </p:sp>
      <p:sp>
        <p:nvSpPr>
          <p:cNvPr id="495" name="Google Shape;495;p10"/>
          <p:cNvSpPr txBox="1"/>
          <p:nvPr/>
        </p:nvSpPr>
        <p:spPr>
          <a:xfrm>
            <a:off x="5148072" y="3657600"/>
            <a:ext cx="1993392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APIs externas (IQAir, INMET) sem garantia de SLA 99,9%.</a:t>
            </a:r>
            <a:endParaRPr/>
          </a:p>
        </p:txBody>
      </p:sp>
      <p:sp>
        <p:nvSpPr>
          <p:cNvPr id="496" name="Google Shape;496;p10"/>
          <p:cNvSpPr/>
          <p:nvPr/>
        </p:nvSpPr>
        <p:spPr>
          <a:xfrm>
            <a:off x="7397496" y="1188720"/>
            <a:ext cx="2240280" cy="4983480"/>
          </a:xfrm>
          <a:prstGeom prst="rect">
            <a:avLst/>
          </a:prstGeom>
          <a:solidFill>
            <a:srgbClr val="122642"/>
          </a:solidFill>
          <a:ln w="9525" cap="flat" cmpd="sng">
            <a:solidFill>
              <a:srgbClr val="2DC65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0"/>
          <p:cNvSpPr/>
          <p:nvPr/>
        </p:nvSpPr>
        <p:spPr>
          <a:xfrm>
            <a:off x="7397496" y="1188720"/>
            <a:ext cx="2240280" cy="457200"/>
          </a:xfrm>
          <a:prstGeom prst="rect">
            <a:avLst/>
          </a:prstGeom>
          <a:solidFill>
            <a:srgbClr val="2DC6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0"/>
          <p:cNvSpPr txBox="1"/>
          <p:nvPr/>
        </p:nvSpPr>
        <p:spPr>
          <a:xfrm>
            <a:off x="7443216" y="1207008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Confiabilidade</a:t>
            </a:r>
            <a:endParaRPr/>
          </a:p>
        </p:txBody>
      </p:sp>
      <p:sp>
        <p:nvSpPr>
          <p:cNvPr id="499" name="Google Shape;499;p10"/>
          <p:cNvSpPr/>
          <p:nvPr/>
        </p:nvSpPr>
        <p:spPr>
          <a:xfrm>
            <a:off x="7488936" y="1737360"/>
            <a:ext cx="2029968" cy="228600"/>
          </a:xfrm>
          <a:prstGeom prst="rect">
            <a:avLst/>
          </a:prstGeom>
          <a:solidFill>
            <a:srgbClr val="064E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0"/>
          <p:cNvSpPr txBox="1"/>
          <p:nvPr/>
        </p:nvSpPr>
        <p:spPr>
          <a:xfrm>
            <a:off x="7507223" y="173736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✓ Vantagem</a:t>
            </a:r>
            <a:endParaRPr/>
          </a:p>
        </p:txBody>
      </p:sp>
      <p:sp>
        <p:nvSpPr>
          <p:cNvPr id="501" name="Google Shape;501;p10"/>
          <p:cNvSpPr txBox="1"/>
          <p:nvPr/>
        </p:nvSpPr>
        <p:spPr>
          <a:xfrm>
            <a:off x="7507223" y="1993392"/>
            <a:ext cx="1993392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ACID via Delta Lake + Great Expectations bloqueiam dados inválidos na entrada.</a:t>
            </a:r>
            <a:endParaRPr/>
          </a:p>
        </p:txBody>
      </p:sp>
      <p:sp>
        <p:nvSpPr>
          <p:cNvPr id="502" name="Google Shape;502;p10"/>
          <p:cNvSpPr/>
          <p:nvPr/>
        </p:nvSpPr>
        <p:spPr>
          <a:xfrm>
            <a:off x="7488936" y="3401568"/>
            <a:ext cx="2029968" cy="228600"/>
          </a:xfrm>
          <a:prstGeom prst="rect">
            <a:avLst/>
          </a:prstGeom>
          <a:solidFill>
            <a:srgbClr val="4C1D1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0"/>
          <p:cNvSpPr txBox="1"/>
          <p:nvPr/>
        </p:nvSpPr>
        <p:spPr>
          <a:xfrm>
            <a:off x="7507223" y="3401568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⚠ Risco</a:t>
            </a:r>
            <a:endParaRPr/>
          </a:p>
        </p:txBody>
      </p:sp>
      <p:sp>
        <p:nvSpPr>
          <p:cNvPr id="504" name="Google Shape;504;p10"/>
          <p:cNvSpPr txBox="1"/>
          <p:nvPr/>
        </p:nvSpPr>
        <p:spPr>
          <a:xfrm>
            <a:off x="7507223" y="3657600"/>
            <a:ext cx="1993392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Open-Meteo forecast pode ter desvio em eventos climáticos extremos.</a:t>
            </a:r>
            <a:endParaRPr/>
          </a:p>
        </p:txBody>
      </p:sp>
      <p:sp>
        <p:nvSpPr>
          <p:cNvPr id="505" name="Google Shape;505;p10"/>
          <p:cNvSpPr/>
          <p:nvPr/>
        </p:nvSpPr>
        <p:spPr>
          <a:xfrm>
            <a:off x="9756648" y="1188720"/>
            <a:ext cx="2240280" cy="4983480"/>
          </a:xfrm>
          <a:prstGeom prst="rect">
            <a:avLst/>
          </a:prstGeom>
          <a:solidFill>
            <a:srgbClr val="122642"/>
          </a:solidFill>
          <a:ln w="9525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0"/>
          <p:cNvSpPr/>
          <p:nvPr/>
        </p:nvSpPr>
        <p:spPr>
          <a:xfrm>
            <a:off x="9756648" y="1188720"/>
            <a:ext cx="2240280" cy="45720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0"/>
          <p:cNvSpPr txBox="1"/>
          <p:nvPr/>
        </p:nvSpPr>
        <p:spPr>
          <a:xfrm>
            <a:off x="9802368" y="1207008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Reversibilidade</a:t>
            </a:r>
            <a:endParaRPr/>
          </a:p>
        </p:txBody>
      </p:sp>
      <p:sp>
        <p:nvSpPr>
          <p:cNvPr id="508" name="Google Shape;508;p10"/>
          <p:cNvSpPr/>
          <p:nvPr/>
        </p:nvSpPr>
        <p:spPr>
          <a:xfrm>
            <a:off x="9848088" y="1737360"/>
            <a:ext cx="2029968" cy="228600"/>
          </a:xfrm>
          <a:prstGeom prst="rect">
            <a:avLst/>
          </a:prstGeom>
          <a:solidFill>
            <a:srgbClr val="064E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0"/>
          <p:cNvSpPr txBox="1"/>
          <p:nvPr/>
        </p:nvSpPr>
        <p:spPr>
          <a:xfrm>
            <a:off x="9866376" y="173736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✓ Vantagem</a:t>
            </a:r>
            <a:endParaRPr/>
          </a:p>
        </p:txBody>
      </p:sp>
      <p:sp>
        <p:nvSpPr>
          <p:cNvPr id="510" name="Google Shape;510;p10"/>
          <p:cNvSpPr txBox="1"/>
          <p:nvPr/>
        </p:nvSpPr>
        <p:spPr>
          <a:xfrm>
            <a:off x="9866376" y="1993392"/>
            <a:ext cx="1993392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Time travel Delta Lake permite rollback a qualquer versão; dbt versionado no Git.</a:t>
            </a:r>
            <a:endParaRPr/>
          </a:p>
        </p:txBody>
      </p:sp>
      <p:sp>
        <p:nvSpPr>
          <p:cNvPr id="511" name="Google Shape;511;p10"/>
          <p:cNvSpPr/>
          <p:nvPr/>
        </p:nvSpPr>
        <p:spPr>
          <a:xfrm>
            <a:off x="9848088" y="3401568"/>
            <a:ext cx="2029968" cy="228600"/>
          </a:xfrm>
          <a:prstGeom prst="rect">
            <a:avLst/>
          </a:prstGeom>
          <a:solidFill>
            <a:srgbClr val="4C1D1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0"/>
          <p:cNvSpPr txBox="1"/>
          <p:nvPr/>
        </p:nvSpPr>
        <p:spPr>
          <a:xfrm>
            <a:off x="9866376" y="3401568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⚠ Risco</a:t>
            </a:r>
            <a:endParaRPr/>
          </a:p>
        </p:txBody>
      </p:sp>
      <p:sp>
        <p:nvSpPr>
          <p:cNvPr id="513" name="Google Shape;513;p10"/>
          <p:cNvSpPr txBox="1"/>
          <p:nvPr/>
        </p:nvSpPr>
        <p:spPr>
          <a:xfrm>
            <a:off x="9866376" y="3657600"/>
            <a:ext cx="1993392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Reprocessamento de grandes volumes pode ser lento em hardware limitado.</a:t>
            </a:r>
            <a:endParaRPr/>
          </a:p>
        </p:txBody>
      </p:sp>
      <p:sp>
        <p:nvSpPr>
          <p:cNvPr id="514" name="Google Shape;514;p10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40B1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1"/>
          <p:cNvSpPr/>
          <p:nvPr/>
        </p:nvSpPr>
        <p:spPr>
          <a:xfrm>
            <a:off x="502920" y="164592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1"/>
          <p:cNvSpPr txBox="1"/>
          <p:nvPr/>
        </p:nvSpPr>
        <p:spPr>
          <a:xfrm>
            <a:off x="685800" y="13716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Considerações Finais</a:t>
            </a:r>
            <a:endParaRPr/>
          </a:p>
        </p:txBody>
      </p:sp>
      <p:sp>
        <p:nvSpPr>
          <p:cNvPr id="523" name="Google Shape;523;p11"/>
          <p:cNvSpPr txBox="1"/>
          <p:nvPr/>
        </p:nvSpPr>
        <p:spPr>
          <a:xfrm>
            <a:off x="685800" y="640080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Riscos · Limitações · Próximos Passos — Parte 2</a:t>
            </a:r>
            <a:endParaRPr/>
          </a:p>
        </p:txBody>
      </p:sp>
      <p:sp>
        <p:nvSpPr>
          <p:cNvPr id="524" name="Google Shape;524;p11"/>
          <p:cNvSpPr/>
          <p:nvPr/>
        </p:nvSpPr>
        <p:spPr>
          <a:xfrm>
            <a:off x="457200" y="1143000"/>
            <a:ext cx="5486400" cy="5047488"/>
          </a:xfrm>
          <a:prstGeom prst="rect">
            <a:avLst/>
          </a:prstGeom>
          <a:solidFill>
            <a:srgbClr val="122642"/>
          </a:solidFill>
          <a:ln w="9525" cap="flat" cmpd="sng">
            <a:solidFill>
              <a:srgbClr val="FCA5A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1"/>
          <p:cNvSpPr/>
          <p:nvPr/>
        </p:nvSpPr>
        <p:spPr>
          <a:xfrm>
            <a:off x="457200" y="1261872"/>
            <a:ext cx="54864" cy="50292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1"/>
          <p:cNvSpPr txBox="1"/>
          <p:nvPr/>
        </p:nvSpPr>
        <p:spPr>
          <a:xfrm>
            <a:off x="667512" y="118872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Principais Riscos e Limitações</a:t>
            </a:r>
            <a:endParaRPr/>
          </a:p>
        </p:txBody>
      </p:sp>
      <p:sp>
        <p:nvSpPr>
          <p:cNvPr id="527" name="Google Shape;527;p11"/>
          <p:cNvSpPr txBox="1"/>
          <p:nvPr/>
        </p:nvSpPr>
        <p:spPr>
          <a:xfrm>
            <a:off x="640080" y="1801368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APIs externas sem SLA</a:t>
            </a:r>
            <a:endParaRPr/>
          </a:p>
        </p:txBody>
      </p:sp>
      <p:sp>
        <p:nvSpPr>
          <p:cNvPr id="528" name="Google Shape;528;p11"/>
          <p:cNvSpPr txBox="1"/>
          <p:nvPr/>
        </p:nvSpPr>
        <p:spPr>
          <a:xfrm>
            <a:off x="2423160" y="1801368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IQAir/INMET podem ficar fora do ar</a:t>
            </a:r>
            <a:endParaRPr/>
          </a:p>
        </p:txBody>
      </p:sp>
      <p:sp>
        <p:nvSpPr>
          <p:cNvPr id="529" name="Google Shape;529;p11"/>
          <p:cNvSpPr txBox="1"/>
          <p:nvPr/>
        </p:nvSpPr>
        <p:spPr>
          <a:xfrm>
            <a:off x="4114800" y="1801368"/>
            <a:ext cx="16459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Cache da última leitura + retry Airflow</a:t>
            </a:r>
            <a:endParaRPr/>
          </a:p>
        </p:txBody>
      </p:sp>
      <p:sp>
        <p:nvSpPr>
          <p:cNvPr id="530" name="Google Shape;530;p11"/>
          <p:cNvSpPr txBox="1"/>
          <p:nvPr/>
        </p:nvSpPr>
        <p:spPr>
          <a:xfrm>
            <a:off x="640080" y="2395728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RAM em Spark local</a:t>
            </a:r>
            <a:endParaRPr/>
          </a:p>
        </p:txBody>
      </p:sp>
      <p:sp>
        <p:nvSpPr>
          <p:cNvPr id="531" name="Google Shape;531;p11"/>
          <p:cNvSpPr txBox="1"/>
          <p:nvPr/>
        </p:nvSpPr>
        <p:spPr>
          <a:xfrm>
            <a:off x="2423160" y="2395728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Até 8 GB para os volumes atuais</a:t>
            </a:r>
            <a:endParaRPr/>
          </a:p>
        </p:txBody>
      </p:sp>
      <p:sp>
        <p:nvSpPr>
          <p:cNvPr id="532" name="Google Shape;532;p11"/>
          <p:cNvSpPr txBox="1"/>
          <p:nvPr/>
        </p:nvSpPr>
        <p:spPr>
          <a:xfrm>
            <a:off x="4114800" y="2395728"/>
            <a:ext cx="16459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Pandas para vol. pequenos em dev</a:t>
            </a:r>
            <a:endParaRPr/>
          </a:p>
        </p:txBody>
      </p:sp>
      <p:sp>
        <p:nvSpPr>
          <p:cNvPr id="533" name="Google Shape;533;p11"/>
          <p:cNvSpPr txBox="1"/>
          <p:nvPr/>
        </p:nvSpPr>
        <p:spPr>
          <a:xfrm>
            <a:off x="640080" y="2990088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Cobertura espacial</a:t>
            </a:r>
            <a:endParaRPr/>
          </a:p>
        </p:txBody>
      </p:sp>
      <p:sp>
        <p:nvSpPr>
          <p:cNvPr id="534" name="Google Shape;534;p11"/>
          <p:cNvSpPr txBox="1"/>
          <p:nvPr/>
        </p:nvSpPr>
        <p:spPr>
          <a:xfrm>
            <a:off x="2423160" y="2990088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4 sensores só cobrem partes de BSB</a:t>
            </a:r>
            <a:endParaRPr/>
          </a:p>
        </p:txBody>
      </p:sp>
      <p:sp>
        <p:nvSpPr>
          <p:cNvPr id="535" name="Google Shape;535;p11"/>
          <p:cNvSpPr txBox="1"/>
          <p:nvPr/>
        </p:nvSpPr>
        <p:spPr>
          <a:xfrm>
            <a:off x="4114800" y="2990088"/>
            <a:ext cx="16459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Priorizar expansão para cidades satélites</a:t>
            </a:r>
            <a:endParaRPr/>
          </a:p>
        </p:txBody>
      </p:sp>
      <p:sp>
        <p:nvSpPr>
          <p:cNvPr id="536" name="Google Shape;536;p11"/>
          <p:cNvSpPr txBox="1"/>
          <p:nvPr/>
        </p:nvSpPr>
        <p:spPr>
          <a:xfrm>
            <a:off x="640080" y="3584448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Dados de 2025</a:t>
            </a:r>
            <a:endParaRPr/>
          </a:p>
        </p:txBody>
      </p:sp>
      <p:sp>
        <p:nvSpPr>
          <p:cNvPr id="537" name="Google Shape;537;p11"/>
          <p:cNvSpPr txBox="1"/>
          <p:nvPr/>
        </p:nvSpPr>
        <p:spPr>
          <a:xfrm>
            <a:off x="2423160" y="3584448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El Niño/eventos extremos em 2026</a:t>
            </a:r>
            <a:endParaRPr/>
          </a:p>
        </p:txBody>
      </p:sp>
      <p:sp>
        <p:nvSpPr>
          <p:cNvPr id="538" name="Google Shape;538;p11"/>
          <p:cNvSpPr txBox="1"/>
          <p:nvPr/>
        </p:nvSpPr>
        <p:spPr>
          <a:xfrm>
            <a:off x="4114800" y="3584448"/>
            <a:ext cx="16459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Monitorar desvio do modelo mensalmente</a:t>
            </a:r>
            <a:endParaRPr/>
          </a:p>
        </p:txBody>
      </p:sp>
      <p:sp>
        <p:nvSpPr>
          <p:cNvPr id="539" name="Google Shape;539;p11"/>
          <p:cNvSpPr txBox="1"/>
          <p:nvPr/>
        </p:nvSpPr>
        <p:spPr>
          <a:xfrm>
            <a:off x="640080" y="4178808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Complexidade dbt+Spark</a:t>
            </a:r>
            <a:endParaRPr/>
          </a:p>
        </p:txBody>
      </p:sp>
      <p:sp>
        <p:nvSpPr>
          <p:cNvPr id="540" name="Google Shape;540;p11"/>
          <p:cNvSpPr txBox="1"/>
          <p:nvPr/>
        </p:nvSpPr>
        <p:spPr>
          <a:xfrm>
            <a:off x="2423160" y="4178808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Curva de aprendizado steep</a:t>
            </a:r>
            <a:endParaRPr/>
          </a:p>
        </p:txBody>
      </p:sp>
      <p:sp>
        <p:nvSpPr>
          <p:cNvPr id="541" name="Google Shape;541;p11"/>
          <p:cNvSpPr txBox="1"/>
          <p:nvPr/>
        </p:nvSpPr>
        <p:spPr>
          <a:xfrm>
            <a:off x="4114800" y="4178808"/>
            <a:ext cx="16459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DuckDB local para dev de modelos dbt</a:t>
            </a:r>
            <a:endParaRPr/>
          </a:p>
        </p:txBody>
      </p:sp>
      <p:sp>
        <p:nvSpPr>
          <p:cNvPr id="542" name="Google Shape;542;p11"/>
          <p:cNvSpPr/>
          <p:nvPr/>
        </p:nvSpPr>
        <p:spPr>
          <a:xfrm>
            <a:off x="6172200" y="1143000"/>
            <a:ext cx="5532120" cy="5047488"/>
          </a:xfrm>
          <a:prstGeom prst="rect">
            <a:avLst/>
          </a:prstGeom>
          <a:solidFill>
            <a:srgbClr val="122642"/>
          </a:solidFill>
          <a:ln w="9525" cap="flat" cmpd="sng">
            <a:solidFill>
              <a:srgbClr val="2DC65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1"/>
          <p:cNvSpPr/>
          <p:nvPr/>
        </p:nvSpPr>
        <p:spPr>
          <a:xfrm>
            <a:off x="6172200" y="1261872"/>
            <a:ext cx="54864" cy="502920"/>
          </a:xfrm>
          <a:prstGeom prst="rect">
            <a:avLst/>
          </a:prstGeom>
          <a:solidFill>
            <a:srgbClr val="2DC6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1"/>
          <p:cNvSpPr txBox="1"/>
          <p:nvPr/>
        </p:nvSpPr>
        <p:spPr>
          <a:xfrm>
            <a:off x="6373368" y="1188720"/>
            <a:ext cx="5166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Próximos Passos — Parte 2</a:t>
            </a:r>
            <a:endParaRPr/>
          </a:p>
        </p:txBody>
      </p:sp>
      <p:sp>
        <p:nvSpPr>
          <p:cNvPr id="545" name="Google Shape;545;p11"/>
          <p:cNvSpPr/>
          <p:nvPr/>
        </p:nvSpPr>
        <p:spPr>
          <a:xfrm>
            <a:off x="6263640" y="1837943"/>
            <a:ext cx="329184" cy="329184"/>
          </a:xfrm>
          <a:prstGeom prst="ellipse">
            <a:avLst/>
          </a:prstGeom>
          <a:solidFill>
            <a:srgbClr val="2DC6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1"/>
          <p:cNvSpPr txBox="1"/>
          <p:nvPr/>
        </p:nvSpPr>
        <p:spPr>
          <a:xfrm>
            <a:off x="6281928" y="1847088"/>
            <a:ext cx="310896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Sem. 1</a:t>
            </a:r>
            <a:endParaRPr/>
          </a:p>
        </p:txBody>
      </p:sp>
      <p:sp>
        <p:nvSpPr>
          <p:cNvPr id="547" name="Google Shape;547;p11"/>
          <p:cNvSpPr txBox="1"/>
          <p:nvPr/>
        </p:nvSpPr>
        <p:spPr>
          <a:xfrm>
            <a:off x="6702552" y="1801368"/>
            <a:ext cx="48006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Docker Compose: MinIO, Spark, Airflow, Grafana + dados sintéticos para teste</a:t>
            </a:r>
            <a:endParaRPr/>
          </a:p>
        </p:txBody>
      </p:sp>
      <p:sp>
        <p:nvSpPr>
          <p:cNvPr id="548" name="Google Shape;548;p11"/>
          <p:cNvSpPr/>
          <p:nvPr/>
        </p:nvSpPr>
        <p:spPr>
          <a:xfrm>
            <a:off x="6263640" y="2459736"/>
            <a:ext cx="329184" cy="329184"/>
          </a:xfrm>
          <a:prstGeom prst="ellipse">
            <a:avLst/>
          </a:prstGeom>
          <a:solidFill>
            <a:srgbClr val="2DC6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1"/>
          <p:cNvSpPr txBox="1"/>
          <p:nvPr/>
        </p:nvSpPr>
        <p:spPr>
          <a:xfrm>
            <a:off x="6281928" y="2468879"/>
            <a:ext cx="310896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Sem. 2</a:t>
            </a:r>
            <a:endParaRPr/>
          </a:p>
        </p:txBody>
      </p:sp>
      <p:sp>
        <p:nvSpPr>
          <p:cNvPr id="550" name="Google Shape;550;p11"/>
          <p:cNvSpPr txBox="1"/>
          <p:nvPr/>
        </p:nvSpPr>
        <p:spPr>
          <a:xfrm>
            <a:off x="6702552" y="2423160"/>
            <a:ext cx="48006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Clientes API (IQAir, INMET, Open-Meteo) + schema validation + Bronze Delta</a:t>
            </a:r>
            <a:endParaRPr/>
          </a:p>
        </p:txBody>
      </p:sp>
      <p:sp>
        <p:nvSpPr>
          <p:cNvPr id="551" name="Google Shape;551;p11"/>
          <p:cNvSpPr/>
          <p:nvPr/>
        </p:nvSpPr>
        <p:spPr>
          <a:xfrm>
            <a:off x="6263640" y="3081528"/>
            <a:ext cx="329184" cy="329184"/>
          </a:xfrm>
          <a:prstGeom prst="ellipse">
            <a:avLst/>
          </a:prstGeom>
          <a:solidFill>
            <a:srgbClr val="2DC6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1"/>
          <p:cNvSpPr txBox="1"/>
          <p:nvPr/>
        </p:nvSpPr>
        <p:spPr>
          <a:xfrm>
            <a:off x="6281928" y="3090672"/>
            <a:ext cx="310896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Sem. 2–3</a:t>
            </a:r>
            <a:endParaRPr/>
          </a:p>
        </p:txBody>
      </p:sp>
      <p:sp>
        <p:nvSpPr>
          <p:cNvPr id="553" name="Google Shape;553;p11"/>
          <p:cNvSpPr txBox="1"/>
          <p:nvPr/>
        </p:nvSpPr>
        <p:spPr>
          <a:xfrm>
            <a:off x="6702552" y="3044952"/>
            <a:ext cx="48006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PySpark jobs Bronze→Silver + Great Expectations automático</a:t>
            </a:r>
            <a:endParaRPr/>
          </a:p>
        </p:txBody>
      </p:sp>
      <p:sp>
        <p:nvSpPr>
          <p:cNvPr id="554" name="Google Shape;554;p11"/>
          <p:cNvSpPr/>
          <p:nvPr/>
        </p:nvSpPr>
        <p:spPr>
          <a:xfrm>
            <a:off x="6263640" y="3703320"/>
            <a:ext cx="329184" cy="329184"/>
          </a:xfrm>
          <a:prstGeom prst="ellipse">
            <a:avLst/>
          </a:prstGeom>
          <a:solidFill>
            <a:srgbClr val="2DC6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1"/>
          <p:cNvSpPr txBox="1"/>
          <p:nvPr/>
        </p:nvSpPr>
        <p:spPr>
          <a:xfrm>
            <a:off x="6281928" y="3712463"/>
            <a:ext cx="310896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Sem. 3</a:t>
            </a:r>
            <a:endParaRPr/>
          </a:p>
        </p:txBody>
      </p:sp>
      <p:sp>
        <p:nvSpPr>
          <p:cNvPr id="556" name="Google Shape;556;p11"/>
          <p:cNvSpPr txBox="1"/>
          <p:nvPr/>
        </p:nvSpPr>
        <p:spPr>
          <a:xfrm>
            <a:off x="6702552" y="3666744"/>
            <a:ext cx="48006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Modelos dbt Silver→Gold (86 features) + testes + lineage completo</a:t>
            </a:r>
            <a:endParaRPr/>
          </a:p>
        </p:txBody>
      </p:sp>
      <p:sp>
        <p:nvSpPr>
          <p:cNvPr id="557" name="Google Shape;557;p11"/>
          <p:cNvSpPr/>
          <p:nvPr/>
        </p:nvSpPr>
        <p:spPr>
          <a:xfrm>
            <a:off x="6263640" y="4325112"/>
            <a:ext cx="329184" cy="329184"/>
          </a:xfrm>
          <a:prstGeom prst="ellipse">
            <a:avLst/>
          </a:prstGeom>
          <a:solidFill>
            <a:srgbClr val="2DC6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1"/>
          <p:cNvSpPr txBox="1"/>
          <p:nvPr/>
        </p:nvSpPr>
        <p:spPr>
          <a:xfrm>
            <a:off x="6281928" y="4334255"/>
            <a:ext cx="310896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Sem. 4</a:t>
            </a:r>
            <a:endParaRPr/>
          </a:p>
        </p:txBody>
      </p:sp>
      <p:sp>
        <p:nvSpPr>
          <p:cNvPr id="559" name="Google Shape;559;p11"/>
          <p:cNvSpPr txBox="1"/>
          <p:nvPr/>
        </p:nvSpPr>
        <p:spPr>
          <a:xfrm>
            <a:off x="6702552" y="4288536"/>
            <a:ext cx="48006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DAGs Airflow batch + alertas Grafana + Metabase dashboards</a:t>
            </a:r>
            <a:endParaRPr/>
          </a:p>
        </p:txBody>
      </p:sp>
      <p:sp>
        <p:nvSpPr>
          <p:cNvPr id="560" name="Google Shape;560;p11"/>
          <p:cNvSpPr/>
          <p:nvPr/>
        </p:nvSpPr>
        <p:spPr>
          <a:xfrm>
            <a:off x="6263640" y="4946903"/>
            <a:ext cx="329184" cy="329184"/>
          </a:xfrm>
          <a:prstGeom prst="ellipse">
            <a:avLst/>
          </a:prstGeom>
          <a:solidFill>
            <a:srgbClr val="2DC6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1"/>
          <p:cNvSpPr txBox="1"/>
          <p:nvPr/>
        </p:nvSpPr>
        <p:spPr>
          <a:xfrm>
            <a:off x="6281928" y="4956047"/>
            <a:ext cx="310896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071122"/>
                </a:solidFill>
                <a:latin typeface="Calibri"/>
                <a:ea typeface="Calibri"/>
                <a:cs typeface="Calibri"/>
                <a:sym typeface="Calibri"/>
              </a:rPr>
              <a:t>Sem. 4</a:t>
            </a:r>
            <a:endParaRPr/>
          </a:p>
        </p:txBody>
      </p:sp>
      <p:sp>
        <p:nvSpPr>
          <p:cNvPr id="562" name="Google Shape;562;p11"/>
          <p:cNvSpPr txBox="1"/>
          <p:nvPr/>
        </p:nvSpPr>
        <p:spPr>
          <a:xfrm>
            <a:off x="6702552" y="4910327"/>
            <a:ext cx="48006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Flask API /predict + XGBoost + latência &lt; 500 ms validada</a:t>
            </a:r>
            <a:endParaRPr/>
          </a:p>
        </p:txBody>
      </p:sp>
      <p:sp>
        <p:nvSpPr>
          <p:cNvPr id="563" name="Google Shape;563;p11"/>
          <p:cNvSpPr/>
          <p:nvPr/>
        </p:nvSpPr>
        <p:spPr>
          <a:xfrm>
            <a:off x="6172200" y="5577840"/>
            <a:ext cx="5532120" cy="512064"/>
          </a:xfrm>
          <a:prstGeom prst="rect">
            <a:avLst/>
          </a:prstGeom>
          <a:solidFill>
            <a:srgbClr val="06302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1"/>
          <p:cNvSpPr txBox="1"/>
          <p:nvPr/>
        </p:nvSpPr>
        <p:spPr>
          <a:xfrm>
            <a:off x="6263640" y="5605272"/>
            <a:ext cx="53492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✓  Critério: pipeline diário OK · Gold 100% testado · Flask &lt; 500ms · Grafana detecta anomalias</a:t>
            </a:r>
            <a:endParaRPr/>
          </a:p>
        </p:txBody>
      </p:sp>
      <p:sp>
        <p:nvSpPr>
          <p:cNvPr id="565" name="Google Shape;565;p11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2"/>
          <p:cNvSpPr/>
          <p:nvPr/>
        </p:nvSpPr>
        <p:spPr>
          <a:xfrm>
            <a:off x="8229600" y="-1371600"/>
            <a:ext cx="6858000" cy="6858000"/>
          </a:xfrm>
          <a:prstGeom prst="ellipse">
            <a:avLst/>
          </a:prstGeom>
          <a:solidFill>
            <a:srgbClr val="005F8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2"/>
          <p:cNvSpPr/>
          <p:nvPr/>
        </p:nvSpPr>
        <p:spPr>
          <a:xfrm>
            <a:off x="8229600" y="-1371600"/>
            <a:ext cx="6858000" cy="6858000"/>
          </a:xfrm>
          <a:prstGeom prst="ellipse">
            <a:avLst/>
          </a:prstGeom>
          <a:solidFill>
            <a:srgbClr val="07112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2"/>
          <p:cNvSpPr/>
          <p:nvPr/>
        </p:nvSpPr>
        <p:spPr>
          <a:xfrm>
            <a:off x="8961120" y="-640080"/>
            <a:ext cx="5303520" cy="5303520"/>
          </a:xfrm>
          <a:prstGeom prst="ellipse">
            <a:avLst/>
          </a:prstGeom>
          <a:solidFill>
            <a:srgbClr val="0D2B5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2"/>
          <p:cNvSpPr/>
          <p:nvPr/>
        </p:nvSpPr>
        <p:spPr>
          <a:xfrm>
            <a:off x="-1828800" y="3200400"/>
            <a:ext cx="5029200" cy="5029200"/>
          </a:xfrm>
          <a:prstGeom prst="ellipse">
            <a:avLst/>
          </a:prstGeom>
          <a:solidFill>
            <a:srgbClr val="FF6B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2"/>
          <p:cNvSpPr/>
          <p:nvPr/>
        </p:nvSpPr>
        <p:spPr>
          <a:xfrm>
            <a:off x="-1828800" y="3200400"/>
            <a:ext cx="5029200" cy="5029200"/>
          </a:xfrm>
          <a:prstGeom prst="ellipse">
            <a:avLst/>
          </a:prstGeom>
          <a:solidFill>
            <a:srgbClr val="07112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2"/>
          <p:cNvSpPr/>
          <p:nvPr/>
        </p:nvSpPr>
        <p:spPr>
          <a:xfrm>
            <a:off x="-1097280" y="3931920"/>
            <a:ext cx="3566160" cy="3566160"/>
          </a:xfrm>
          <a:prstGeom prst="ellipse">
            <a:avLst/>
          </a:prstGeom>
          <a:solidFill>
            <a:srgbClr val="1A2A3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2"/>
          <p:cNvSpPr txBox="1"/>
          <p:nvPr/>
        </p:nvSpPr>
        <p:spPr>
          <a:xfrm>
            <a:off x="1371600" y="1371600"/>
            <a:ext cx="941832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MotoAR</a:t>
            </a:r>
            <a:endParaRPr/>
          </a:p>
        </p:txBody>
      </p:sp>
      <p:sp>
        <p:nvSpPr>
          <p:cNvPr id="579" name="Google Shape;579;p12"/>
          <p:cNvSpPr txBox="1"/>
          <p:nvPr/>
        </p:nvSpPr>
        <p:spPr>
          <a:xfrm>
            <a:off x="1371600" y="2651760"/>
            <a:ext cx="9418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Qualidade do Ar · Proteção ao Motociclista · Brasília</a:t>
            </a:r>
            <a:endParaRPr/>
          </a:p>
        </p:txBody>
      </p:sp>
      <p:sp>
        <p:nvSpPr>
          <p:cNvPr id="580" name="Google Shape;580;p12"/>
          <p:cNvSpPr/>
          <p:nvPr/>
        </p:nvSpPr>
        <p:spPr>
          <a:xfrm>
            <a:off x="594360" y="3383280"/>
            <a:ext cx="2148840" cy="484632"/>
          </a:xfrm>
          <a:prstGeom prst="rect">
            <a:avLst/>
          </a:prstGeom>
          <a:solidFill>
            <a:srgbClr val="122642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2"/>
          <p:cNvSpPr txBox="1"/>
          <p:nvPr/>
        </p:nvSpPr>
        <p:spPr>
          <a:xfrm>
            <a:off x="658368" y="3410712"/>
            <a:ext cx="20299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Arquitetura Medalhão</a:t>
            </a:r>
            <a:endParaRPr/>
          </a:p>
        </p:txBody>
      </p:sp>
      <p:sp>
        <p:nvSpPr>
          <p:cNvPr id="582" name="Google Shape;582;p12"/>
          <p:cNvSpPr/>
          <p:nvPr/>
        </p:nvSpPr>
        <p:spPr>
          <a:xfrm>
            <a:off x="2852928" y="3383280"/>
            <a:ext cx="2148840" cy="484632"/>
          </a:xfrm>
          <a:prstGeom prst="rect">
            <a:avLst/>
          </a:prstGeom>
          <a:solidFill>
            <a:srgbClr val="122642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2"/>
          <p:cNvSpPr txBox="1"/>
          <p:nvPr/>
        </p:nvSpPr>
        <p:spPr>
          <a:xfrm>
            <a:off x="2916936" y="3410712"/>
            <a:ext cx="20299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Delta Lake ACID</a:t>
            </a:r>
            <a:endParaRPr/>
          </a:p>
        </p:txBody>
      </p:sp>
      <p:sp>
        <p:nvSpPr>
          <p:cNvPr id="584" name="Google Shape;584;p12"/>
          <p:cNvSpPr/>
          <p:nvPr/>
        </p:nvSpPr>
        <p:spPr>
          <a:xfrm>
            <a:off x="5111496" y="3383280"/>
            <a:ext cx="2148840" cy="484632"/>
          </a:xfrm>
          <a:prstGeom prst="rect">
            <a:avLst/>
          </a:prstGeom>
          <a:solidFill>
            <a:srgbClr val="122642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2"/>
          <p:cNvSpPr txBox="1"/>
          <p:nvPr/>
        </p:nvSpPr>
        <p:spPr>
          <a:xfrm>
            <a:off x="5175504" y="3410712"/>
            <a:ext cx="20299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XGBoost + MLflow</a:t>
            </a:r>
            <a:endParaRPr/>
          </a:p>
        </p:txBody>
      </p:sp>
      <p:sp>
        <p:nvSpPr>
          <p:cNvPr id="586" name="Google Shape;586;p12"/>
          <p:cNvSpPr/>
          <p:nvPr/>
        </p:nvSpPr>
        <p:spPr>
          <a:xfrm>
            <a:off x="7370064" y="3383280"/>
            <a:ext cx="2148840" cy="484632"/>
          </a:xfrm>
          <a:prstGeom prst="rect">
            <a:avLst/>
          </a:prstGeom>
          <a:solidFill>
            <a:srgbClr val="122642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2"/>
          <p:cNvSpPr txBox="1"/>
          <p:nvPr/>
        </p:nvSpPr>
        <p:spPr>
          <a:xfrm>
            <a:off x="7434072" y="3410712"/>
            <a:ext cx="20299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dbt + Airflow</a:t>
            </a:r>
            <a:endParaRPr/>
          </a:p>
        </p:txBody>
      </p:sp>
      <p:sp>
        <p:nvSpPr>
          <p:cNvPr id="588" name="Google Shape;588;p12"/>
          <p:cNvSpPr/>
          <p:nvPr/>
        </p:nvSpPr>
        <p:spPr>
          <a:xfrm>
            <a:off x="9628632" y="3383280"/>
            <a:ext cx="2148840" cy="484632"/>
          </a:xfrm>
          <a:prstGeom prst="rect">
            <a:avLst/>
          </a:prstGeom>
          <a:solidFill>
            <a:srgbClr val="122642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2"/>
          <p:cNvSpPr txBox="1"/>
          <p:nvPr/>
        </p:nvSpPr>
        <p:spPr>
          <a:xfrm>
            <a:off x="9692640" y="3410712"/>
            <a:ext cx="20299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Open-Source 100%</a:t>
            </a:r>
            <a:endParaRPr/>
          </a:p>
        </p:txBody>
      </p:sp>
      <p:sp>
        <p:nvSpPr>
          <p:cNvPr id="590" name="Google Shape;590;p12"/>
          <p:cNvSpPr txBox="1"/>
          <p:nvPr/>
        </p:nvSpPr>
        <p:spPr>
          <a:xfrm>
            <a:off x="1371600" y="4251960"/>
            <a:ext cx="94183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Obrigado!</a:t>
            </a:r>
            <a:endParaRPr/>
          </a:p>
        </p:txBody>
      </p:sp>
      <p:sp>
        <p:nvSpPr>
          <p:cNvPr id="591" name="Google Shape;591;p12"/>
          <p:cNvSpPr txBox="1"/>
          <p:nvPr/>
        </p:nvSpPr>
        <p:spPr>
          <a:xfrm>
            <a:off x="1371600" y="5212080"/>
            <a:ext cx="941832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sng" strike="noStrike" cap="none" dirty="0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Alessandra </a:t>
            </a:r>
            <a:r>
              <a:rPr lang="en-US" sz="1600" u="sng" dirty="0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Gonçalves</a:t>
            </a:r>
            <a:r>
              <a:rPr lang="en-US" sz="1600" b="0" i="0" u="sng" strike="noStrike" cap="none" dirty="0">
                <a:solidFill>
                  <a:srgbClr val="ADC8E4"/>
                </a:solidFill>
                <a:latin typeface="Calibri"/>
                <a:ea typeface="Calibri"/>
                <a:cs typeface="Calibri"/>
                <a:sym typeface="Calibri"/>
              </a:rPr>
              <a:t> · Luiz Henrique · Rafael</a:t>
            </a:r>
            <a:endParaRPr u="sng" dirty="0"/>
          </a:p>
        </p:txBody>
      </p:sp>
      <p:sp>
        <p:nvSpPr>
          <p:cNvPr id="592" name="Google Shape;592;p12"/>
          <p:cNvSpPr txBox="1"/>
          <p:nvPr/>
        </p:nvSpPr>
        <p:spPr>
          <a:xfrm>
            <a:off x="1371600" y="5650992"/>
            <a:ext cx="9418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5A728A"/>
                </a:solidFill>
                <a:latin typeface="Calibri"/>
                <a:ea typeface="Calibri"/>
                <a:cs typeface="Calibri"/>
                <a:sym typeface="Calibri"/>
              </a:rPr>
              <a:t>UniCEUB — Engenharia de Dados · Prof. Luis Carlos Cardoso ·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1442</Words>
  <Application>Microsoft Office PowerPoint</Application>
  <PresentationFormat>Personalizar</PresentationFormat>
  <Paragraphs>302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Rafael Mascarenhas de Andrade</cp:lastModifiedBy>
  <cp:revision>1</cp:revision>
  <dcterms:created xsi:type="dcterms:W3CDTF">2013-01-27T09:14:16Z</dcterms:created>
  <dcterms:modified xsi:type="dcterms:W3CDTF">2026-04-30T10:57:18Z</dcterms:modified>
</cp:coreProperties>
</file>