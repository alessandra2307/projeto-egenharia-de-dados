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iSCOtvjJVD3U8W6/xfuMAPKAgV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05F8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8412480" y="-731520"/>
            <a:ext cx="5029200" cy="5029200"/>
          </a:xfrm>
          <a:prstGeom prst="ellipse">
            <a:avLst/>
          </a:prstGeom>
          <a:solidFill>
            <a:srgbClr val="0D2B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-731520" y="4754880"/>
            <a:ext cx="3200400" cy="3200400"/>
          </a:xfrm>
          <a:prstGeom prst="ellipse">
            <a:avLst/>
          </a:prstGeom>
          <a:solidFill>
            <a:srgbClr val="1A2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097280" y="1234440"/>
            <a:ext cx="2011680" cy="411480"/>
          </a:xfrm>
          <a:prstGeom prst="rect">
            <a:avLst/>
          </a:prstGeom>
          <a:solidFill>
            <a:srgbClr val="2DC6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143000" y="12618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🌿  AQI — Boa qualidade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097280" y="1737360"/>
            <a:ext cx="100584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MotoAR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097280" y="3337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Plataforma de Qualidade do Ar para Motociclistas de Brasília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097280" y="38862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Planejamento Arquitetural — Parte 1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97280" y="5715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Alessandra Ferreira · Luiz Henrique · Rafael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097280" y="60807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UniCEUB — Engenharia de Dados · 2026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7616952" y="58978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Prof. Luis Carlos Cardoso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02920" y="1188720"/>
            <a:ext cx="5577840" cy="713232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12648" y="131673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12648" y="132588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188720" y="127101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Descrição do Projeto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188720" y="159105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Contexto, problema e stakeholders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6309360" y="1188720"/>
            <a:ext cx="5577840" cy="713232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419088" y="131673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419088" y="132588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995160" y="127101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Classificação dos Dados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995160" y="159105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Fontes · Formatos · 45.061 registros reais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502920" y="2011680"/>
            <a:ext cx="5577840" cy="713232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12648" y="213969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12648" y="214884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1188720" y="209397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Domínios e Serviços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1188720" y="241401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 domínios DDD + serviços compartilhados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6309360" y="2011680"/>
            <a:ext cx="5577840" cy="713232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6419088" y="213969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6419088" y="214884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995160" y="209397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Arquitetura Medalhão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6995160" y="241401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Bronze → Silver → Gold · Delta Lake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502920" y="2834640"/>
            <a:ext cx="5577840" cy="713232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612648" y="296265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612648" y="297180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188720" y="291693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Tecnologias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188720" y="323697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Stack open-source justificada</a:t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6309360" y="2834640"/>
            <a:ext cx="5577840" cy="713232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419088" y="296265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6419088" y="297180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6995160" y="291693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 &amp; Considerações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6995160" y="323697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Análise exploratória + riscos + Parte 2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Descrição do Projeto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Contexto · Problema · Stakeholders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457200" y="1143000"/>
            <a:ext cx="5394960" cy="5047488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457200" y="1261872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67512" y="118872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O Problema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640080" y="1828800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🏍️  +500 mil motos em Brasília — exposição direta ao ar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640080" y="2377440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🌫️  PM2.5 pode ser 5× maior na estiagem (4–6 meses/ano)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640080" y="2926080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📵  Nenhuma ferramenta pública integra poluição + EPI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640080" y="3474720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📍  Lacuna real: decisão de proteção sem dados acessíveis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667512" y="3977639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Objetivos Principais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640080" y="438912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Coletar dados de qualidade do ar (IQAir, INMET, Open-Meteo)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640080" y="4791456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Pipeline robusto e rastreável com Arquitetura Medalhão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640080" y="5193792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Score MotoAR 0–100 com previsão para as próximas 6h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640080" y="559612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Recomendações práticas de EPI ao motociclista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6126480" y="1143000"/>
            <a:ext cx="5577840" cy="5047488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6126480" y="1261872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6336792" y="118872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Stakeholders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6336792" y="182880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Motociclistas urbanos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8732520" y="1828800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Usuário final — score + recomendação de EPI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6336792" y="24505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Pesquisadores / Saúde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8732520" y="2450592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Dados históricos e painel de exposição por região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6336792" y="307238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Equipe do projeto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8732520" y="3072384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Pipeline, modelo e manutenção da plataforma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6336792" y="369417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Gestores públicos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8732520" y="3694176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Evidências para política de mobilidade em Brasília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6336792" y="431596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Prof. / UniCEUB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8732520" y="4315968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Avaliação do ciclo de vida de eng. de dados</a:t>
            </a:r>
            <a:endParaRPr/>
          </a:p>
        </p:txBody>
      </p:sp>
      <p:sp>
        <p:nvSpPr>
          <p:cNvPr id="174" name="Google Shape;174;p3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Definição e Classificação dos Dados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Fontes · Formatos · Volumes · 45.061 registros reais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457200" y="1143000"/>
            <a:ext cx="5394960" cy="384048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457200" y="1143000"/>
            <a:ext cx="5394960" cy="548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594360" y="1170432"/>
            <a:ext cx="5166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📦  Dados Operacionais / Históricos (Batch)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548640" y="18470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Fonte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1691640" y="18470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Parâm.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2743200" y="18470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3749039" y="18470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Freq.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4434840" y="18470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Latência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548640" y="2148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INMET CRAS Fercal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1691640" y="2148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2743200" y="2148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8.760 reg.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3749039" y="2148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1h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4434840" y="2148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T+1h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548640" y="25877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INMET Escola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1691640" y="25877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2743200" y="25877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8.760 reg.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3749039" y="25877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1h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4434840" y="25877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T+1h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548640" y="302666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INMET 2024 hist.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1691640" y="302666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2743200" y="302666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8.784 reg.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3749039" y="302666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1h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4434840" y="302666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histórico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548640" y="346557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Open-Meteo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1691640" y="346557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2743200" y="346557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forecast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3749039" y="346557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6h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4434840" y="346557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6126480" y="1143000"/>
            <a:ext cx="5577840" cy="384048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6126480" y="1143000"/>
            <a:ext cx="5577840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 txBox="1"/>
          <p:nvPr/>
        </p:nvSpPr>
        <p:spPr>
          <a:xfrm>
            <a:off x="6263640" y="1170432"/>
            <a:ext cx="5394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⚡  Dados Near-Real-Time (Quasi-Streaming)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6199632" y="18470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Fonte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7452360" y="18470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Parâm.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8641080" y="18470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/>
          </a:p>
        </p:txBody>
      </p:sp>
      <p:sp>
        <p:nvSpPr>
          <p:cNvPr id="218" name="Google Shape;218;p4"/>
          <p:cNvSpPr txBox="1"/>
          <p:nvPr/>
        </p:nvSpPr>
        <p:spPr>
          <a:xfrm>
            <a:off x="9692640" y="18470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Freq.</a:t>
            </a:r>
            <a:endParaRPr/>
          </a:p>
        </p:txBody>
      </p:sp>
      <p:sp>
        <p:nvSpPr>
          <p:cNvPr id="219" name="Google Shape;219;p4"/>
          <p:cNvSpPr txBox="1"/>
          <p:nvPr/>
        </p:nvSpPr>
        <p:spPr>
          <a:xfrm>
            <a:off x="10561320" y="18470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Latência</a:t>
            </a:r>
            <a:endParaRPr/>
          </a:p>
        </p:txBody>
      </p:sp>
      <p:sp>
        <p:nvSpPr>
          <p:cNvPr id="220" name="Google Shape;220;p4"/>
          <p:cNvSpPr txBox="1"/>
          <p:nvPr/>
        </p:nvSpPr>
        <p:spPr>
          <a:xfrm>
            <a:off x="6199632" y="21488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IQAir — Brasília ctr.</a:t>
            </a:r>
            <a:endParaRPr/>
          </a:p>
        </p:txBody>
      </p:sp>
      <p:sp>
        <p:nvSpPr>
          <p:cNvPr id="221" name="Google Shape;221;p4"/>
          <p:cNvSpPr txBox="1"/>
          <p:nvPr/>
        </p:nvSpPr>
        <p:spPr>
          <a:xfrm>
            <a:off x="7452360" y="21488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2" name="Google Shape;222;p4"/>
          <p:cNvSpPr txBox="1"/>
          <p:nvPr/>
        </p:nvSpPr>
        <p:spPr>
          <a:xfrm>
            <a:off x="8641080" y="21488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9.853 reg.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9692640" y="21488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~1 min</a:t>
            </a:r>
            <a:endParaRPr/>
          </a:p>
        </p:txBody>
      </p:sp>
      <p:sp>
        <p:nvSpPr>
          <p:cNvPr id="224" name="Google Shape;224;p4"/>
          <p:cNvSpPr txBox="1"/>
          <p:nvPr/>
        </p:nvSpPr>
        <p:spPr>
          <a:xfrm>
            <a:off x="10561320" y="21488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&lt; 2min</a:t>
            </a:r>
            <a:endParaRPr/>
          </a:p>
        </p:txBody>
      </p:sp>
      <p:sp>
        <p:nvSpPr>
          <p:cNvPr id="225" name="Google Shape;225;p4"/>
          <p:cNvSpPr txBox="1"/>
          <p:nvPr/>
        </p:nvSpPr>
        <p:spPr>
          <a:xfrm>
            <a:off x="6199632" y="25877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IQAir — Escola 115</a:t>
            </a:r>
            <a:endParaRPr/>
          </a:p>
        </p:txBody>
      </p:sp>
      <p:sp>
        <p:nvSpPr>
          <p:cNvPr id="226" name="Google Shape;226;p4"/>
          <p:cNvSpPr txBox="1"/>
          <p:nvPr/>
        </p:nvSpPr>
        <p:spPr>
          <a:xfrm>
            <a:off x="7452360" y="25877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7" name="Google Shape;227;p4"/>
          <p:cNvSpPr txBox="1"/>
          <p:nvPr/>
        </p:nvSpPr>
        <p:spPr>
          <a:xfrm>
            <a:off x="8641080" y="25877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8.766 reg.</a:t>
            </a:r>
            <a:endParaRPr/>
          </a:p>
        </p:txBody>
      </p:sp>
      <p:sp>
        <p:nvSpPr>
          <p:cNvPr id="228" name="Google Shape;228;p4"/>
          <p:cNvSpPr txBox="1"/>
          <p:nvPr/>
        </p:nvSpPr>
        <p:spPr>
          <a:xfrm>
            <a:off x="9692640" y="25877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~1 min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10561320" y="25877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&lt; 2min</a:t>
            </a:r>
            <a:endParaRPr/>
          </a:p>
        </p:txBody>
      </p:sp>
      <p:sp>
        <p:nvSpPr>
          <p:cNvPr id="230" name="Google Shape;230;p4"/>
          <p:cNvSpPr txBox="1"/>
          <p:nvPr/>
        </p:nvSpPr>
        <p:spPr>
          <a:xfrm>
            <a:off x="6199632" y="302666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IQAir — UnB Gama</a:t>
            </a:r>
            <a:endParaRPr/>
          </a:p>
        </p:txBody>
      </p:sp>
      <p:sp>
        <p:nvSpPr>
          <p:cNvPr id="231" name="Google Shape;231;p4"/>
          <p:cNvSpPr txBox="1"/>
          <p:nvPr/>
        </p:nvSpPr>
        <p:spPr>
          <a:xfrm>
            <a:off x="7452360" y="302666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2" name="Google Shape;232;p4"/>
          <p:cNvSpPr txBox="1"/>
          <p:nvPr/>
        </p:nvSpPr>
        <p:spPr>
          <a:xfrm>
            <a:off x="8641080" y="302666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9.053 reg.</a:t>
            </a:r>
            <a:endParaRPr/>
          </a:p>
        </p:txBody>
      </p:sp>
      <p:sp>
        <p:nvSpPr>
          <p:cNvPr id="233" name="Google Shape;233;p4"/>
          <p:cNvSpPr txBox="1"/>
          <p:nvPr/>
        </p:nvSpPr>
        <p:spPr>
          <a:xfrm>
            <a:off x="9692640" y="302666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~1 min</a:t>
            </a:r>
            <a:endParaRPr/>
          </a:p>
        </p:txBody>
      </p:sp>
      <p:sp>
        <p:nvSpPr>
          <p:cNvPr id="234" name="Google Shape;234;p4"/>
          <p:cNvSpPr txBox="1"/>
          <p:nvPr/>
        </p:nvSpPr>
        <p:spPr>
          <a:xfrm>
            <a:off x="10561320" y="302666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&lt; 2min</a:t>
            </a:r>
            <a:endParaRPr/>
          </a:p>
        </p:txBody>
      </p:sp>
      <p:sp>
        <p:nvSpPr>
          <p:cNvPr id="235" name="Google Shape;235;p4"/>
          <p:cNvSpPr txBox="1"/>
          <p:nvPr/>
        </p:nvSpPr>
        <p:spPr>
          <a:xfrm>
            <a:off x="6199632" y="346557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IQAir — Finatec</a:t>
            </a:r>
            <a:endParaRPr/>
          </a:p>
        </p:txBody>
      </p:sp>
      <p:sp>
        <p:nvSpPr>
          <p:cNvPr id="236" name="Google Shape;236;p4"/>
          <p:cNvSpPr txBox="1"/>
          <p:nvPr/>
        </p:nvSpPr>
        <p:spPr>
          <a:xfrm>
            <a:off x="7452360" y="346557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7" name="Google Shape;237;p4"/>
          <p:cNvSpPr txBox="1"/>
          <p:nvPr/>
        </p:nvSpPr>
        <p:spPr>
          <a:xfrm>
            <a:off x="8641080" y="346557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8.629 reg.</a:t>
            </a:r>
            <a:endParaRPr/>
          </a:p>
        </p:txBody>
      </p:sp>
      <p:sp>
        <p:nvSpPr>
          <p:cNvPr id="238" name="Google Shape;238;p4"/>
          <p:cNvSpPr txBox="1"/>
          <p:nvPr/>
        </p:nvSpPr>
        <p:spPr>
          <a:xfrm>
            <a:off x="9692640" y="346557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~1 min</a:t>
            </a:r>
            <a:endParaRPr/>
          </a:p>
        </p:txBody>
      </p:sp>
      <p:sp>
        <p:nvSpPr>
          <p:cNvPr id="239" name="Google Shape;239;p4"/>
          <p:cNvSpPr txBox="1"/>
          <p:nvPr/>
        </p:nvSpPr>
        <p:spPr>
          <a:xfrm>
            <a:off x="10561320" y="346557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&lt; 2min</a:t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457200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548640" y="50932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45.061</a:t>
            </a:r>
            <a:endParaRPr/>
          </a:p>
        </p:txBody>
      </p:sp>
      <p:sp>
        <p:nvSpPr>
          <p:cNvPr id="242" name="Google Shape;242;p4"/>
          <p:cNvSpPr txBox="1"/>
          <p:nvPr/>
        </p:nvSpPr>
        <p:spPr>
          <a:xfrm>
            <a:off x="548640" y="546811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registros coletados</a:t>
            </a:r>
            <a:endParaRPr/>
          </a:p>
        </p:txBody>
      </p:sp>
      <p:sp>
        <p:nvSpPr>
          <p:cNvPr id="243" name="Google Shape;243;p4"/>
          <p:cNvSpPr/>
          <p:nvPr/>
        </p:nvSpPr>
        <p:spPr>
          <a:xfrm>
            <a:off x="3401568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 txBox="1"/>
          <p:nvPr/>
        </p:nvSpPr>
        <p:spPr>
          <a:xfrm>
            <a:off x="3493008" y="50932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17.520</a:t>
            </a:r>
            <a:endParaRPr/>
          </a:p>
        </p:txBody>
      </p:sp>
      <p:sp>
        <p:nvSpPr>
          <p:cNvPr id="245" name="Google Shape;245;p4"/>
          <p:cNvSpPr txBox="1"/>
          <p:nvPr/>
        </p:nvSpPr>
        <p:spPr>
          <a:xfrm>
            <a:off x="3493008" y="546811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novos reg./mês</a:t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6345936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 txBox="1"/>
          <p:nvPr/>
        </p:nvSpPr>
        <p:spPr>
          <a:xfrm>
            <a:off x="6437376" y="50932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250k+</a:t>
            </a:r>
            <a:endParaRPr/>
          </a:p>
        </p:txBody>
      </p:sp>
      <p:sp>
        <p:nvSpPr>
          <p:cNvPr id="248" name="Google Shape;248;p4"/>
          <p:cNvSpPr txBox="1"/>
          <p:nvPr/>
        </p:nvSpPr>
        <p:spPr>
          <a:xfrm>
            <a:off x="6437376" y="546811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estimado em 2026</a:t>
            </a:r>
            <a:endParaRPr/>
          </a:p>
        </p:txBody>
      </p:sp>
      <p:sp>
        <p:nvSpPr>
          <p:cNvPr id="249" name="Google Shape;249;p4"/>
          <p:cNvSpPr/>
          <p:nvPr/>
        </p:nvSpPr>
        <p:spPr>
          <a:xfrm>
            <a:off x="9290304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"/>
          <p:cNvSpPr txBox="1"/>
          <p:nvPr/>
        </p:nvSpPr>
        <p:spPr>
          <a:xfrm>
            <a:off x="9381744" y="50932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Parquet</a:t>
            </a:r>
            <a:endParaRPr/>
          </a:p>
        </p:txBody>
      </p:sp>
      <p:sp>
        <p:nvSpPr>
          <p:cNvPr id="251" name="Google Shape;251;p4"/>
          <p:cNvSpPr txBox="1"/>
          <p:nvPr/>
        </p:nvSpPr>
        <p:spPr>
          <a:xfrm>
            <a:off x="9381744" y="546811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formato final</a:t>
            </a:r>
            <a:endParaRPr/>
          </a:p>
        </p:txBody>
      </p:sp>
      <p:sp>
        <p:nvSpPr>
          <p:cNvPr id="252" name="Google Shape;252;p4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Domínios e Serviços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 domínios DDD · baixo acoplamento · alta coesão</a:t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320040" y="1143000"/>
            <a:ext cx="2212848" cy="365760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320040" y="1143000"/>
            <a:ext cx="2212848" cy="5029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 txBox="1"/>
          <p:nvPr/>
        </p:nvSpPr>
        <p:spPr>
          <a:xfrm>
            <a:off x="365759" y="1161288"/>
            <a:ext cx="21214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Ingestão</a:t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45720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502920" y="1837943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IQAir API</a:t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45720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 txBox="1"/>
          <p:nvPr/>
        </p:nvSpPr>
        <p:spPr>
          <a:xfrm>
            <a:off x="502920" y="22951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INMET API</a:t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45720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502920" y="27523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Open-Meteo</a:t>
            </a: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365759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 txBox="1"/>
          <p:nvPr/>
        </p:nvSpPr>
        <p:spPr>
          <a:xfrm>
            <a:off x="411479" y="404164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Python / Requests</a:t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2697480" y="1143000"/>
            <a:ext cx="2212848" cy="365760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2697480" y="1143000"/>
            <a:ext cx="2212848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2743200" y="1161288"/>
            <a:ext cx="21214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Processamento</a:t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283464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2880360" y="1837943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endParaRPr/>
          </a:p>
        </p:txBody>
      </p:sp>
      <p:sp>
        <p:nvSpPr>
          <p:cNvPr id="278" name="Google Shape;278;p5"/>
          <p:cNvSpPr/>
          <p:nvPr/>
        </p:nvSpPr>
        <p:spPr>
          <a:xfrm>
            <a:off x="283464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 txBox="1"/>
          <p:nvPr/>
        </p:nvSpPr>
        <p:spPr>
          <a:xfrm>
            <a:off x="2880360" y="22951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Outlier Clip</a:t>
            </a:r>
            <a:endParaRPr/>
          </a:p>
        </p:txBody>
      </p:sp>
      <p:sp>
        <p:nvSpPr>
          <p:cNvPr id="280" name="Google Shape;280;p5"/>
          <p:cNvSpPr/>
          <p:nvPr/>
        </p:nvSpPr>
        <p:spPr>
          <a:xfrm>
            <a:off x="283464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 txBox="1"/>
          <p:nvPr/>
        </p:nvSpPr>
        <p:spPr>
          <a:xfrm>
            <a:off x="2880360" y="27523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Deduplicação</a:t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274320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2788920" y="404164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Great Expect. / PySpark</a:t>
            </a:r>
            <a:endParaRPr/>
          </a:p>
        </p:txBody>
      </p:sp>
      <p:sp>
        <p:nvSpPr>
          <p:cNvPr id="284" name="Google Shape;284;p5"/>
          <p:cNvSpPr/>
          <p:nvPr/>
        </p:nvSpPr>
        <p:spPr>
          <a:xfrm>
            <a:off x="5074920" y="1143000"/>
            <a:ext cx="2212848" cy="365760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5074920" y="1143000"/>
            <a:ext cx="221284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 txBox="1"/>
          <p:nvPr/>
        </p:nvSpPr>
        <p:spPr>
          <a:xfrm>
            <a:off x="5120640" y="1161288"/>
            <a:ext cx="21214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Eng.</a:t>
            </a:r>
            <a:endParaRPr/>
          </a:p>
        </p:txBody>
      </p:sp>
      <p:sp>
        <p:nvSpPr>
          <p:cNvPr id="287" name="Google Shape;287;p5"/>
          <p:cNvSpPr/>
          <p:nvPr/>
        </p:nvSpPr>
        <p:spPr>
          <a:xfrm>
            <a:off x="521208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 txBox="1"/>
          <p:nvPr/>
        </p:nvSpPr>
        <p:spPr>
          <a:xfrm>
            <a:off x="5257800" y="1837943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86 features</a:t>
            </a:r>
            <a:endParaRPr/>
          </a:p>
        </p:txBody>
      </p:sp>
      <p:sp>
        <p:nvSpPr>
          <p:cNvPr id="289" name="Google Shape;289;p5"/>
          <p:cNvSpPr/>
          <p:nvPr/>
        </p:nvSpPr>
        <p:spPr>
          <a:xfrm>
            <a:off x="521208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 txBox="1"/>
          <p:nvPr/>
        </p:nvSpPr>
        <p:spPr>
          <a:xfrm>
            <a:off x="5257800" y="22951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Lag/Rolling</a:t>
            </a:r>
            <a:endParaRPr/>
          </a:p>
        </p:txBody>
      </p:sp>
      <p:sp>
        <p:nvSpPr>
          <p:cNvPr id="291" name="Google Shape;291;p5"/>
          <p:cNvSpPr/>
          <p:nvPr/>
        </p:nvSpPr>
        <p:spPr>
          <a:xfrm>
            <a:off x="521208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 txBox="1"/>
          <p:nvPr/>
        </p:nvSpPr>
        <p:spPr>
          <a:xfrm>
            <a:off x="5257800" y="27523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Temporais</a:t>
            </a:r>
            <a:endParaRPr/>
          </a:p>
        </p:txBody>
      </p:sp>
      <p:sp>
        <p:nvSpPr>
          <p:cNvPr id="293" name="Google Shape;293;p5"/>
          <p:cNvSpPr/>
          <p:nvPr/>
        </p:nvSpPr>
        <p:spPr>
          <a:xfrm>
            <a:off x="512064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 txBox="1"/>
          <p:nvPr/>
        </p:nvSpPr>
        <p:spPr>
          <a:xfrm>
            <a:off x="5166360" y="404164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PySpark / Delta Lake</a:t>
            </a:r>
            <a:endParaRPr/>
          </a:p>
        </p:txBody>
      </p:sp>
      <p:sp>
        <p:nvSpPr>
          <p:cNvPr id="295" name="Google Shape;295;p5"/>
          <p:cNvSpPr/>
          <p:nvPr/>
        </p:nvSpPr>
        <p:spPr>
          <a:xfrm>
            <a:off x="7452360" y="1143000"/>
            <a:ext cx="2212848" cy="365760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7452360" y="1143000"/>
            <a:ext cx="2212848" cy="502920"/>
          </a:xfrm>
          <a:prstGeom prst="rect">
            <a:avLst/>
          </a:prstGeom>
          <a:solidFill>
            <a:srgbClr val="F5C5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 txBox="1"/>
          <p:nvPr/>
        </p:nvSpPr>
        <p:spPr>
          <a:xfrm>
            <a:off x="7498080" y="1161288"/>
            <a:ext cx="21214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Modelo ML</a:t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758952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 txBox="1"/>
          <p:nvPr/>
        </p:nvSpPr>
        <p:spPr>
          <a:xfrm>
            <a:off x="7635240" y="1837943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/>
          </a:p>
        </p:txBody>
      </p:sp>
      <p:sp>
        <p:nvSpPr>
          <p:cNvPr id="300" name="Google Shape;300;p5"/>
          <p:cNvSpPr/>
          <p:nvPr/>
        </p:nvSpPr>
        <p:spPr>
          <a:xfrm>
            <a:off x="758952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 txBox="1"/>
          <p:nvPr/>
        </p:nvSpPr>
        <p:spPr>
          <a:xfrm>
            <a:off x="7635240" y="22951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Score 0-100</a:t>
            </a:r>
            <a:endParaRPr/>
          </a:p>
        </p:txBody>
      </p:sp>
      <p:sp>
        <p:nvSpPr>
          <p:cNvPr id="302" name="Google Shape;302;p5"/>
          <p:cNvSpPr/>
          <p:nvPr/>
        </p:nvSpPr>
        <p:spPr>
          <a:xfrm>
            <a:off x="758952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 txBox="1"/>
          <p:nvPr/>
        </p:nvSpPr>
        <p:spPr>
          <a:xfrm>
            <a:off x="7635240" y="27523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Classificação</a:t>
            </a:r>
            <a:endParaRPr/>
          </a:p>
        </p:txBody>
      </p:sp>
      <p:sp>
        <p:nvSpPr>
          <p:cNvPr id="304" name="Google Shape;304;p5"/>
          <p:cNvSpPr/>
          <p:nvPr/>
        </p:nvSpPr>
        <p:spPr>
          <a:xfrm>
            <a:off x="749808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5"/>
          <p:cNvSpPr txBox="1"/>
          <p:nvPr/>
        </p:nvSpPr>
        <p:spPr>
          <a:xfrm>
            <a:off x="7543800" y="404164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Scikit-Learn / MLflow</a:t>
            </a:r>
            <a:endParaRPr/>
          </a:p>
        </p:txBody>
      </p:sp>
      <p:sp>
        <p:nvSpPr>
          <p:cNvPr id="306" name="Google Shape;306;p5"/>
          <p:cNvSpPr/>
          <p:nvPr/>
        </p:nvSpPr>
        <p:spPr>
          <a:xfrm>
            <a:off x="9829800" y="1143000"/>
            <a:ext cx="2212848" cy="365760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9829800" y="1143000"/>
            <a:ext cx="2212848" cy="502920"/>
          </a:xfrm>
          <a:prstGeom prst="rect">
            <a:avLst/>
          </a:prstGeom>
          <a:solidFill>
            <a:srgbClr val="2DC6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"/>
          <p:cNvSpPr txBox="1"/>
          <p:nvPr/>
        </p:nvSpPr>
        <p:spPr>
          <a:xfrm>
            <a:off x="9875520" y="1161288"/>
            <a:ext cx="21214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Entrega</a:t>
            </a:r>
            <a:endParaRPr/>
          </a:p>
        </p:txBody>
      </p:sp>
      <p:sp>
        <p:nvSpPr>
          <p:cNvPr id="309" name="Google Shape;309;p5"/>
          <p:cNvSpPr/>
          <p:nvPr/>
        </p:nvSpPr>
        <p:spPr>
          <a:xfrm>
            <a:off x="996696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"/>
          <p:cNvSpPr txBox="1"/>
          <p:nvPr/>
        </p:nvSpPr>
        <p:spPr>
          <a:xfrm>
            <a:off x="10012680" y="1837943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App MotoAR</a:t>
            </a:r>
            <a:endParaRPr/>
          </a:p>
        </p:txBody>
      </p:sp>
      <p:sp>
        <p:nvSpPr>
          <p:cNvPr id="311" name="Google Shape;311;p5"/>
          <p:cNvSpPr/>
          <p:nvPr/>
        </p:nvSpPr>
        <p:spPr>
          <a:xfrm>
            <a:off x="996696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 txBox="1"/>
          <p:nvPr/>
        </p:nvSpPr>
        <p:spPr>
          <a:xfrm>
            <a:off x="10012680" y="22951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Flask API</a:t>
            </a:r>
            <a:endParaRPr/>
          </a:p>
        </p:txBody>
      </p:sp>
      <p:sp>
        <p:nvSpPr>
          <p:cNvPr id="313" name="Google Shape;313;p5"/>
          <p:cNvSpPr/>
          <p:nvPr/>
        </p:nvSpPr>
        <p:spPr>
          <a:xfrm>
            <a:off x="996696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 txBox="1"/>
          <p:nvPr/>
        </p:nvSpPr>
        <p:spPr>
          <a:xfrm>
            <a:off x="10012680" y="27523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Notificações</a:t>
            </a:r>
            <a:endParaRPr/>
          </a:p>
        </p:txBody>
      </p:sp>
      <p:sp>
        <p:nvSpPr>
          <p:cNvPr id="315" name="Google Shape;315;p5"/>
          <p:cNvSpPr/>
          <p:nvPr/>
        </p:nvSpPr>
        <p:spPr>
          <a:xfrm>
            <a:off x="987552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"/>
          <p:cNvSpPr txBox="1"/>
          <p:nvPr/>
        </p:nvSpPr>
        <p:spPr>
          <a:xfrm>
            <a:off x="9921240" y="404164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Flask / Metabase</a:t>
            </a:r>
            <a:endParaRPr/>
          </a:p>
        </p:txBody>
      </p:sp>
      <p:sp>
        <p:nvSpPr>
          <p:cNvPr id="317" name="Google Shape;317;p5"/>
          <p:cNvSpPr txBox="1"/>
          <p:nvPr/>
        </p:nvSpPr>
        <p:spPr>
          <a:xfrm>
            <a:off x="320040" y="4553712"/>
            <a:ext cx="1152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Ingestão  →  Processamento  →  Feature Eng.  →  Modelo ML  →  Entrega</a:t>
            </a:r>
            <a:endParaRPr/>
          </a:p>
        </p:txBody>
      </p:sp>
      <p:sp>
        <p:nvSpPr>
          <p:cNvPr id="318" name="Google Shape;318;p5"/>
          <p:cNvSpPr txBox="1"/>
          <p:nvPr/>
        </p:nvSpPr>
        <p:spPr>
          <a:xfrm>
            <a:off x="320040" y="4983480"/>
            <a:ext cx="1152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Serviços Compartilhados</a:t>
            </a:r>
            <a:endParaRPr/>
          </a:p>
        </p:txBody>
      </p:sp>
      <p:sp>
        <p:nvSpPr>
          <p:cNvPr id="319" name="Google Shape;319;p5"/>
          <p:cNvSpPr/>
          <p:nvPr/>
        </p:nvSpPr>
        <p:spPr>
          <a:xfrm>
            <a:off x="1371600" y="5376672"/>
            <a:ext cx="4297680" cy="804672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5"/>
          <p:cNvSpPr txBox="1"/>
          <p:nvPr/>
        </p:nvSpPr>
        <p:spPr>
          <a:xfrm>
            <a:off x="1463040" y="5394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Apache Airflow</a:t>
            </a:r>
            <a:endParaRPr/>
          </a:p>
        </p:txBody>
      </p:sp>
      <p:sp>
        <p:nvSpPr>
          <p:cNvPr id="321" name="Google Shape;321;p5"/>
          <p:cNvSpPr txBox="1"/>
          <p:nvPr/>
        </p:nvSpPr>
        <p:spPr>
          <a:xfrm>
            <a:off x="1463040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D5A78"/>
                </a:solidFill>
                <a:latin typeface="Calibri"/>
                <a:ea typeface="Calibri"/>
                <a:cs typeface="Calibri"/>
                <a:sym typeface="Calibri"/>
              </a:rPr>
              <a:t>Orquestração batch · DAGs Python</a:t>
            </a:r>
            <a:endParaRPr/>
          </a:p>
        </p:txBody>
      </p:sp>
      <p:sp>
        <p:nvSpPr>
          <p:cNvPr id="322" name="Google Shape;322;p5"/>
          <p:cNvSpPr/>
          <p:nvPr/>
        </p:nvSpPr>
        <p:spPr>
          <a:xfrm>
            <a:off x="6400800" y="5376672"/>
            <a:ext cx="4297680" cy="804672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5"/>
          <p:cNvSpPr txBox="1"/>
          <p:nvPr/>
        </p:nvSpPr>
        <p:spPr>
          <a:xfrm>
            <a:off x="6492240" y="5394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Grafana + Prometheus</a:t>
            </a:r>
            <a:endParaRPr/>
          </a:p>
        </p:txBody>
      </p:sp>
      <p:sp>
        <p:nvSpPr>
          <p:cNvPr id="324" name="Google Shape;324;p5"/>
          <p:cNvSpPr txBox="1"/>
          <p:nvPr/>
        </p:nvSpPr>
        <p:spPr>
          <a:xfrm>
            <a:off x="6492240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D5A78"/>
                </a:solidFill>
                <a:latin typeface="Calibri"/>
                <a:ea typeface="Calibri"/>
                <a:cs typeface="Calibri"/>
                <a:sym typeface="Calibri"/>
              </a:rPr>
              <a:t>Monitoramento · Alertas em tempo real</a:t>
            </a:r>
            <a:endParaRPr/>
          </a:p>
        </p:txBody>
      </p:sp>
      <p:sp>
        <p:nvSpPr>
          <p:cNvPr id="325" name="Google Shape;325;p5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Arquitetura — Fluxo Ponta a Ponta</a:t>
            </a:r>
            <a:endParaRPr/>
          </a:p>
        </p:txBody>
      </p:sp>
      <p:sp>
        <p:nvSpPr>
          <p:cNvPr id="334" name="Google Shape;334;p6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Arquitetura Medalhão · Bronze → Silver → Gold · Delta Lake</a:t>
            </a:r>
            <a:endParaRPr/>
          </a:p>
        </p:txBody>
      </p:sp>
      <p:sp>
        <p:nvSpPr>
          <p:cNvPr id="335" name="Google Shape;335;p6"/>
          <p:cNvSpPr/>
          <p:nvPr/>
        </p:nvSpPr>
        <p:spPr>
          <a:xfrm>
            <a:off x="8138160" y="1143000"/>
            <a:ext cx="3611880" cy="5047488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 txBox="1"/>
          <p:nvPr/>
        </p:nvSpPr>
        <p:spPr>
          <a:xfrm>
            <a:off x="8275320" y="121615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Arquitetura Medalhão</a:t>
            </a:r>
            <a:endParaRPr/>
          </a:p>
        </p:txBody>
      </p:sp>
      <p:sp>
        <p:nvSpPr>
          <p:cNvPr id="337" name="Google Shape;337;p6"/>
          <p:cNvSpPr txBox="1"/>
          <p:nvPr/>
        </p:nvSpPr>
        <p:spPr>
          <a:xfrm>
            <a:off x="8275320" y="1618488"/>
            <a:ext cx="3383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Organiza dados em três camadas progressivas de qualidade — ideal para auditabilidade em saúde pública.</a:t>
            </a:r>
            <a:endParaRPr/>
          </a:p>
        </p:txBody>
      </p:sp>
      <p:sp>
        <p:nvSpPr>
          <p:cNvPr id="338" name="Google Shape;338;p6"/>
          <p:cNvSpPr txBox="1"/>
          <p:nvPr/>
        </p:nvSpPr>
        <p:spPr>
          <a:xfrm>
            <a:off x="8275320" y="24871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Por que não Lambda?</a:t>
            </a:r>
            <a:endParaRPr/>
          </a:p>
        </p:txBody>
      </p:sp>
      <p:sp>
        <p:nvSpPr>
          <p:cNvPr id="339" name="Google Shape;339;p6"/>
          <p:cNvSpPr txBox="1"/>
          <p:nvPr/>
        </p:nvSpPr>
        <p:spPr>
          <a:xfrm>
            <a:off x="8275320" y="2852928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Duas bases de código para o mesmo resultado, sem ganho de latência justificável para o caso de uso.</a:t>
            </a:r>
            <a:endParaRPr/>
          </a:p>
        </p:txBody>
      </p:sp>
      <p:sp>
        <p:nvSpPr>
          <p:cNvPr id="340" name="Google Shape;340;p6"/>
          <p:cNvSpPr txBox="1"/>
          <p:nvPr/>
        </p:nvSpPr>
        <p:spPr>
          <a:xfrm>
            <a:off x="8275320" y="36301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Por que não Kappa?</a:t>
            </a:r>
            <a:endParaRPr/>
          </a:p>
        </p:txBody>
      </p:sp>
      <p:sp>
        <p:nvSpPr>
          <p:cNvPr id="341" name="Google Shape;341;p6"/>
          <p:cNvSpPr txBox="1"/>
          <p:nvPr/>
        </p:nvSpPr>
        <p:spPr>
          <a:xfrm>
            <a:off x="8275320" y="3995928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Sem requisito de streaming verdadeiro — micro-batching a cada 5min é suficiente e muito mais simples.</a:t>
            </a:r>
            <a:endParaRPr/>
          </a:p>
        </p:txBody>
      </p:sp>
      <p:sp>
        <p:nvSpPr>
          <p:cNvPr id="342" name="Google Shape;342;p6"/>
          <p:cNvSpPr/>
          <p:nvPr/>
        </p:nvSpPr>
        <p:spPr>
          <a:xfrm>
            <a:off x="8275320" y="4818888"/>
            <a:ext cx="292608" cy="292608"/>
          </a:xfrm>
          <a:prstGeom prst="ellipse">
            <a:avLst/>
          </a:prstGeom>
          <a:solidFill>
            <a:srgbClr val="CD7F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 txBox="1"/>
          <p:nvPr/>
        </p:nvSpPr>
        <p:spPr>
          <a:xfrm>
            <a:off x="8641080" y="478231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D7F32"/>
                </a:solidFill>
                <a:latin typeface="Calibri"/>
                <a:ea typeface="Calibri"/>
                <a:cs typeface="Calibri"/>
                <a:sym typeface="Calibri"/>
              </a:rPr>
              <a:t>Bronze</a:t>
            </a:r>
            <a:endParaRPr/>
          </a:p>
        </p:txBody>
      </p:sp>
      <p:sp>
        <p:nvSpPr>
          <p:cNvPr id="344" name="Google Shape;344;p6"/>
          <p:cNvSpPr txBox="1"/>
          <p:nvPr/>
        </p:nvSpPr>
        <p:spPr>
          <a:xfrm>
            <a:off x="9674352" y="4818888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Dados brutos, imutáveis, ACID</a:t>
            </a:r>
            <a:endParaRPr/>
          </a:p>
        </p:txBody>
      </p:sp>
      <p:sp>
        <p:nvSpPr>
          <p:cNvPr id="345" name="Google Shape;345;p6"/>
          <p:cNvSpPr/>
          <p:nvPr/>
        </p:nvSpPr>
        <p:spPr>
          <a:xfrm>
            <a:off x="8275320" y="5294376"/>
            <a:ext cx="292608" cy="292608"/>
          </a:xfrm>
          <a:prstGeom prst="ellipse">
            <a:avLst/>
          </a:prstGeom>
          <a:solidFill>
            <a:srgbClr val="AAAA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6"/>
          <p:cNvSpPr txBox="1"/>
          <p:nvPr/>
        </p:nvSpPr>
        <p:spPr>
          <a:xfrm>
            <a:off x="8641080" y="52578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Silver</a:t>
            </a:r>
            <a:endParaRPr/>
          </a:p>
        </p:txBody>
      </p:sp>
      <p:sp>
        <p:nvSpPr>
          <p:cNvPr id="347" name="Google Shape;347;p6"/>
          <p:cNvSpPr txBox="1"/>
          <p:nvPr/>
        </p:nvSpPr>
        <p:spPr>
          <a:xfrm>
            <a:off x="9674352" y="5294376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Limpos + deduplicados + validados</a:t>
            </a:r>
            <a:endParaRPr/>
          </a:p>
        </p:txBody>
      </p:sp>
      <p:sp>
        <p:nvSpPr>
          <p:cNvPr id="348" name="Google Shape;348;p6"/>
          <p:cNvSpPr/>
          <p:nvPr/>
        </p:nvSpPr>
        <p:spPr>
          <a:xfrm>
            <a:off x="8275320" y="5769864"/>
            <a:ext cx="292608" cy="292608"/>
          </a:xfrm>
          <a:prstGeom prst="ellipse">
            <a:avLst/>
          </a:prstGeom>
          <a:solidFill>
            <a:srgbClr val="F5C5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6"/>
          <p:cNvSpPr txBox="1"/>
          <p:nvPr/>
        </p:nvSpPr>
        <p:spPr>
          <a:xfrm>
            <a:off x="8641080" y="573328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Gold</a:t>
            </a:r>
            <a:endParaRPr/>
          </a:p>
        </p:txBody>
      </p:sp>
      <p:sp>
        <p:nvSpPr>
          <p:cNvPr id="350" name="Google Shape;350;p6"/>
          <p:cNvSpPr txBox="1"/>
          <p:nvPr/>
        </p:nvSpPr>
        <p:spPr>
          <a:xfrm>
            <a:off x="9674352" y="5769864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86 features para ML + dashboards</a:t>
            </a:r>
            <a:endParaRPr/>
          </a:p>
        </p:txBody>
      </p:sp>
      <p:sp>
        <p:nvSpPr>
          <p:cNvPr id="351" name="Google Shape;351;p6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pic>
        <p:nvPicPr>
          <p:cNvPr id="352" name="Google Shape;35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1618512"/>
            <a:ext cx="8061046" cy="439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Diagrama de Domínios e Serviços</a:t>
            </a:r>
            <a:endParaRPr/>
          </a:p>
        </p:txBody>
      </p:sp>
      <p:sp>
        <p:nvSpPr>
          <p:cNvPr id="361" name="Google Shape;361;p7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pic>
        <p:nvPicPr>
          <p:cNvPr id="362" name="Google Shape;3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750" y="685800"/>
            <a:ext cx="10431450" cy="568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Tecnologias — Stack Open-Source</a:t>
            </a:r>
            <a:endParaRPr/>
          </a:p>
        </p:txBody>
      </p:sp>
      <p:sp>
        <p:nvSpPr>
          <p:cNvPr id="371" name="Google Shape;371;p8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Cada escolha justificada e viável em hardware local (8–16 GB RAM)</a:t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320040" y="1143000"/>
            <a:ext cx="2788920" cy="525780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320040" y="1143000"/>
            <a:ext cx="2788920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 txBox="1"/>
          <p:nvPr/>
        </p:nvSpPr>
        <p:spPr>
          <a:xfrm>
            <a:off x="393192" y="1161288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Ingestão</a:t>
            </a:r>
            <a:endParaRPr/>
          </a:p>
        </p:txBody>
      </p:sp>
      <p:sp>
        <p:nvSpPr>
          <p:cNvPr id="375" name="Google Shape;375;p8"/>
          <p:cNvSpPr txBox="1"/>
          <p:nvPr/>
        </p:nvSpPr>
        <p:spPr>
          <a:xfrm>
            <a:off x="457200" y="173736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Requests+Schedule</a:t>
            </a:r>
            <a:endParaRPr/>
          </a:p>
        </p:txBody>
      </p:sp>
      <p:sp>
        <p:nvSpPr>
          <p:cNvPr id="376" name="Google Shape;376;p8"/>
          <p:cNvSpPr txBox="1"/>
          <p:nvPr/>
        </p:nvSpPr>
        <p:spPr>
          <a:xfrm>
            <a:off x="457200" y="203911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Polling de APIs REST — simplicidade + controle total, sem overhead</a:t>
            </a:r>
            <a:endParaRPr/>
          </a:p>
        </p:txBody>
      </p:sp>
      <p:sp>
        <p:nvSpPr>
          <p:cNvPr id="377" name="Google Shape;377;p8"/>
          <p:cNvSpPr txBox="1"/>
          <p:nvPr/>
        </p:nvSpPr>
        <p:spPr>
          <a:xfrm>
            <a:off x="457200" y="269748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IQAir / INMET / Open-Meteo</a:t>
            </a:r>
            <a:endParaRPr/>
          </a:p>
        </p:txBody>
      </p:sp>
      <p:sp>
        <p:nvSpPr>
          <p:cNvPr id="378" name="Google Shape;378;p8"/>
          <p:cNvSpPr txBox="1"/>
          <p:nvPr/>
        </p:nvSpPr>
        <p:spPr>
          <a:xfrm>
            <a:off x="457200" y="299923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APIs REST públicas e gratuitas — 3 fontes complementares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457200" y="365760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MinIO Bronze</a:t>
            </a:r>
            <a:endParaRPr/>
          </a:p>
        </p:txBody>
      </p:sp>
      <p:sp>
        <p:nvSpPr>
          <p:cNvPr id="380" name="Google Shape;380;p8"/>
          <p:cNvSpPr txBox="1"/>
          <p:nvPr/>
        </p:nvSpPr>
        <p:spPr>
          <a:xfrm>
            <a:off x="457200" y="395935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JSON bruto gravado imediatamente — S3-compatível, sem vendor lock-in</a:t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3291840" y="1143000"/>
            <a:ext cx="2788920" cy="525780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3291840" y="1143000"/>
            <a:ext cx="2788920" cy="47548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 txBox="1"/>
          <p:nvPr/>
        </p:nvSpPr>
        <p:spPr>
          <a:xfrm>
            <a:off x="3364992" y="1161288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Armazenamento</a:t>
            </a:r>
            <a:endParaRPr/>
          </a:p>
        </p:txBody>
      </p:sp>
      <p:sp>
        <p:nvSpPr>
          <p:cNvPr id="384" name="Google Shape;384;p8"/>
          <p:cNvSpPr txBox="1"/>
          <p:nvPr/>
        </p:nvSpPr>
        <p:spPr>
          <a:xfrm>
            <a:off x="3429000" y="173736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MinIO (object storage)</a:t>
            </a:r>
            <a:endParaRPr/>
          </a:p>
        </p:txBody>
      </p:sp>
      <p:sp>
        <p:nvSpPr>
          <p:cNvPr id="385" name="Google Shape;385;p8"/>
          <p:cNvSpPr txBox="1"/>
          <p:nvPr/>
        </p:nvSpPr>
        <p:spPr>
          <a:xfrm>
            <a:off x="3429000" y="203911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100% compatível com S3 — migração zero-custo para AWS/GCP</a:t>
            </a:r>
            <a:endParaRPr/>
          </a:p>
        </p:txBody>
      </p:sp>
      <p:sp>
        <p:nvSpPr>
          <p:cNvPr id="386" name="Google Shape;386;p8"/>
          <p:cNvSpPr txBox="1"/>
          <p:nvPr/>
        </p:nvSpPr>
        <p:spPr>
          <a:xfrm>
            <a:off x="3429000" y="269748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Delta Lake</a:t>
            </a:r>
            <a:endParaRPr/>
          </a:p>
        </p:txBody>
      </p:sp>
      <p:sp>
        <p:nvSpPr>
          <p:cNvPr id="387" name="Google Shape;387;p8"/>
          <p:cNvSpPr txBox="1"/>
          <p:nvPr/>
        </p:nvSpPr>
        <p:spPr>
          <a:xfrm>
            <a:off x="3429000" y="299923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ACID + time travel + schema evolution sobre Parquet</a:t>
            </a:r>
            <a:endParaRPr/>
          </a:p>
        </p:txBody>
      </p:sp>
      <p:sp>
        <p:nvSpPr>
          <p:cNvPr id="388" name="Google Shape;388;p8"/>
          <p:cNvSpPr txBox="1"/>
          <p:nvPr/>
        </p:nvSpPr>
        <p:spPr>
          <a:xfrm>
            <a:off x="3429000" y="365760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Apache Spark (PySpark)</a:t>
            </a:r>
            <a:endParaRPr/>
          </a:p>
        </p:txBody>
      </p:sp>
      <p:sp>
        <p:nvSpPr>
          <p:cNvPr id="389" name="Google Shape;389;p8"/>
          <p:cNvSpPr txBox="1"/>
          <p:nvPr/>
        </p:nvSpPr>
        <p:spPr>
          <a:xfrm>
            <a:off x="3429000" y="395935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Batch distribuído — dedup, outlier clip, rolling windows</a:t>
            </a:r>
            <a:endParaRPr/>
          </a:p>
        </p:txBody>
      </p:sp>
      <p:sp>
        <p:nvSpPr>
          <p:cNvPr id="390" name="Google Shape;390;p8"/>
          <p:cNvSpPr/>
          <p:nvPr/>
        </p:nvSpPr>
        <p:spPr>
          <a:xfrm>
            <a:off x="6263640" y="1143000"/>
            <a:ext cx="2788920" cy="525780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6263640" y="1143000"/>
            <a:ext cx="2788920" cy="475488"/>
          </a:xfrm>
          <a:prstGeom prst="rect">
            <a:avLst/>
          </a:prstGeom>
          <a:solidFill>
            <a:srgbClr val="F5C5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 txBox="1"/>
          <p:nvPr/>
        </p:nvSpPr>
        <p:spPr>
          <a:xfrm>
            <a:off x="6336792" y="1161288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Transformação &amp; ML</a:t>
            </a:r>
            <a:endParaRPr/>
          </a:p>
        </p:txBody>
      </p:sp>
      <p:sp>
        <p:nvSpPr>
          <p:cNvPr id="393" name="Google Shape;393;p8"/>
          <p:cNvSpPr txBox="1"/>
          <p:nvPr/>
        </p:nvSpPr>
        <p:spPr>
          <a:xfrm>
            <a:off x="6400800" y="173736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dbt (data build tool)</a:t>
            </a:r>
            <a:endParaRPr/>
          </a:p>
        </p:txBody>
      </p:sp>
      <p:sp>
        <p:nvSpPr>
          <p:cNvPr id="394" name="Google Shape;394;p8"/>
          <p:cNvSpPr txBox="1"/>
          <p:nvPr/>
        </p:nvSpPr>
        <p:spPr>
          <a:xfrm>
            <a:off x="6400800" y="203911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SQL versionado no Git — Silver→Gold, testes automáticos, lineage</a:t>
            </a:r>
            <a:endParaRPr/>
          </a:p>
        </p:txBody>
      </p:sp>
      <p:sp>
        <p:nvSpPr>
          <p:cNvPr id="395" name="Google Shape;395;p8"/>
          <p:cNvSpPr txBox="1"/>
          <p:nvPr/>
        </p:nvSpPr>
        <p:spPr>
          <a:xfrm>
            <a:off x="6400800" y="269748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Great Expectations</a:t>
            </a:r>
            <a:endParaRPr/>
          </a:p>
        </p:txBody>
      </p:sp>
      <p:sp>
        <p:nvSpPr>
          <p:cNvPr id="396" name="Google Shape;396;p8"/>
          <p:cNvSpPr txBox="1"/>
          <p:nvPr/>
        </p:nvSpPr>
        <p:spPr>
          <a:xfrm>
            <a:off x="6400800" y="299923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Valida not_null, in_range, unique antes de cada camada</a:t>
            </a:r>
            <a:endParaRPr/>
          </a:p>
        </p:txBody>
      </p:sp>
      <p:sp>
        <p:nvSpPr>
          <p:cNvPr id="397" name="Google Shape;397;p8"/>
          <p:cNvSpPr txBox="1"/>
          <p:nvPr/>
        </p:nvSpPr>
        <p:spPr>
          <a:xfrm>
            <a:off x="6400800" y="365760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 + MLflow</a:t>
            </a:r>
            <a:endParaRPr/>
          </a:p>
        </p:txBody>
      </p:sp>
      <p:sp>
        <p:nvSpPr>
          <p:cNvPr id="398" name="Google Shape;398;p8"/>
          <p:cNvSpPr txBox="1"/>
          <p:nvPr/>
        </p:nvSpPr>
        <p:spPr>
          <a:xfrm>
            <a:off x="6400800" y="395935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Robusto para séries temporais tabulares — rastreia versões</a:t>
            </a:r>
            <a:endParaRPr/>
          </a:p>
        </p:txBody>
      </p:sp>
      <p:sp>
        <p:nvSpPr>
          <p:cNvPr id="399" name="Google Shape;399;p8"/>
          <p:cNvSpPr/>
          <p:nvPr/>
        </p:nvSpPr>
        <p:spPr>
          <a:xfrm>
            <a:off x="9235440" y="1143000"/>
            <a:ext cx="2788920" cy="525780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9235440" y="1143000"/>
            <a:ext cx="2788920" cy="475488"/>
          </a:xfrm>
          <a:prstGeom prst="rect">
            <a:avLst/>
          </a:prstGeom>
          <a:solidFill>
            <a:srgbClr val="2DC6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8"/>
          <p:cNvSpPr txBox="1"/>
          <p:nvPr/>
        </p:nvSpPr>
        <p:spPr>
          <a:xfrm>
            <a:off x="9308592" y="1161288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Orquestração &amp; Entrega</a:t>
            </a:r>
            <a:endParaRPr/>
          </a:p>
        </p:txBody>
      </p:sp>
      <p:sp>
        <p:nvSpPr>
          <p:cNvPr id="402" name="Google Shape;402;p8"/>
          <p:cNvSpPr txBox="1"/>
          <p:nvPr/>
        </p:nvSpPr>
        <p:spPr>
          <a:xfrm>
            <a:off x="9372600" y="173736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Apache Airflow</a:t>
            </a:r>
            <a:endParaRPr/>
          </a:p>
        </p:txBody>
      </p:sp>
      <p:sp>
        <p:nvSpPr>
          <p:cNvPr id="403" name="Google Shape;403;p8"/>
          <p:cNvSpPr txBox="1"/>
          <p:nvPr/>
        </p:nvSpPr>
        <p:spPr>
          <a:xfrm>
            <a:off x="9372600" y="203911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DAGs Python — retry com backoff exp., maior ecossistema de operadores</a:t>
            </a:r>
            <a:endParaRPr/>
          </a:p>
        </p:txBody>
      </p:sp>
      <p:sp>
        <p:nvSpPr>
          <p:cNvPr id="404" name="Google Shape;404;p8"/>
          <p:cNvSpPr txBox="1"/>
          <p:nvPr/>
        </p:nvSpPr>
        <p:spPr>
          <a:xfrm>
            <a:off x="9372600" y="269748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Flask API REST</a:t>
            </a:r>
            <a:endParaRPr/>
          </a:p>
        </p:txBody>
      </p:sp>
      <p:sp>
        <p:nvSpPr>
          <p:cNvPr id="405" name="Google Shape;405;p8"/>
          <p:cNvSpPr txBox="1"/>
          <p:nvPr/>
        </p:nvSpPr>
        <p:spPr>
          <a:xfrm>
            <a:off x="9372600" y="299923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Endpoint /predict — latência alvo &lt; 500 ms para score MotoAR</a:t>
            </a:r>
            <a:endParaRPr/>
          </a:p>
        </p:txBody>
      </p:sp>
      <p:sp>
        <p:nvSpPr>
          <p:cNvPr id="406" name="Google Shape;406;p8"/>
          <p:cNvSpPr txBox="1"/>
          <p:nvPr/>
        </p:nvSpPr>
        <p:spPr>
          <a:xfrm>
            <a:off x="9372600" y="365760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Metabase + Grafana</a:t>
            </a:r>
            <a:endParaRPr/>
          </a:p>
        </p:txBody>
      </p:sp>
      <p:sp>
        <p:nvSpPr>
          <p:cNvPr id="407" name="Google Shape;407;p8"/>
          <p:cNvSpPr txBox="1"/>
          <p:nvPr/>
        </p:nvSpPr>
        <p:spPr>
          <a:xfrm>
            <a:off x="9372600" y="395935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Dashboards analíticos Gold + alertas SLA em tempo real</a:t>
            </a:r>
            <a:endParaRPr/>
          </a:p>
        </p:txBody>
      </p:sp>
      <p:sp>
        <p:nvSpPr>
          <p:cNvPr id="408" name="Google Shape;408;p8"/>
          <p:cNvSpPr txBox="1"/>
          <p:nvPr/>
        </p:nvSpPr>
        <p:spPr>
          <a:xfrm>
            <a:off x="320040" y="64008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Governança:</a:t>
            </a: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2057400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2121408" y="637336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Great Expectations — Qualidade</a:t>
            </a:r>
            <a:endParaRPr/>
          </a:p>
        </p:txBody>
      </p:sp>
      <p:sp>
        <p:nvSpPr>
          <p:cNvPr id="411" name="Google Shape;411;p8"/>
          <p:cNvSpPr/>
          <p:nvPr/>
        </p:nvSpPr>
        <p:spPr>
          <a:xfrm>
            <a:off x="4087368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4151376" y="637336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Delta Lake time travel — Rastreabilidade</a:t>
            </a:r>
            <a:endParaRPr/>
          </a:p>
        </p:txBody>
      </p:sp>
      <p:sp>
        <p:nvSpPr>
          <p:cNvPr id="413" name="Google Shape;413;p8"/>
          <p:cNvSpPr/>
          <p:nvPr/>
        </p:nvSpPr>
        <p:spPr>
          <a:xfrm>
            <a:off x="6117336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 txBox="1"/>
          <p:nvPr/>
        </p:nvSpPr>
        <p:spPr>
          <a:xfrm>
            <a:off x="6181344" y="637336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dbt docs + lineage — Lineage</a:t>
            </a:r>
            <a:endParaRPr/>
          </a:p>
        </p:txBody>
      </p:sp>
      <p:sp>
        <p:nvSpPr>
          <p:cNvPr id="415" name="Google Shape;415;p8"/>
          <p:cNvSpPr/>
          <p:nvPr/>
        </p:nvSpPr>
        <p:spPr>
          <a:xfrm>
            <a:off x="8147304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8"/>
          <p:cNvSpPr txBox="1"/>
          <p:nvPr/>
        </p:nvSpPr>
        <p:spPr>
          <a:xfrm>
            <a:off x="8211312" y="637336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Grafana + Prometheus — Observab.</a:t>
            </a:r>
            <a:endParaRPr/>
          </a:p>
        </p:txBody>
      </p:sp>
      <p:sp>
        <p:nvSpPr>
          <p:cNvPr id="417" name="Google Shape;417;p8"/>
          <p:cNvSpPr/>
          <p:nvPr/>
        </p:nvSpPr>
        <p:spPr>
          <a:xfrm>
            <a:off x="10177272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 txBox="1"/>
          <p:nvPr/>
        </p:nvSpPr>
        <p:spPr>
          <a:xfrm>
            <a:off x="10241280" y="637336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Docker Compose — Portabilidade</a:t>
            </a:r>
            <a:endParaRPr/>
          </a:p>
        </p:txBody>
      </p:sp>
      <p:sp>
        <p:nvSpPr>
          <p:cNvPr id="419" name="Google Shape;419;p8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Exploratória de Dados (EDA)</a:t>
            </a:r>
            <a:endParaRPr/>
          </a:p>
        </p:txBody>
      </p:sp>
      <p:sp>
        <p:nvSpPr>
          <p:cNvPr id="428" name="Google Shape;428;p9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45.061 registros · INMET 2025 · IQAir março/2026</a:t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457200" y="1143000"/>
            <a:ext cx="5394960" cy="5047488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57200" y="1261872"/>
            <a:ext cx="54864" cy="5029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 txBox="1"/>
          <p:nvPr/>
        </p:nvSpPr>
        <p:spPr>
          <a:xfrm>
            <a:off x="667512" y="1188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PM2.5 — INMET Fercal 2025</a:t>
            </a:r>
            <a:endParaRPr/>
          </a:p>
        </p:txBody>
      </p:sp>
      <p:sp>
        <p:nvSpPr>
          <p:cNvPr id="432" name="Google Shape;432;p9"/>
          <p:cNvSpPr txBox="1"/>
          <p:nvPr/>
        </p:nvSpPr>
        <p:spPr>
          <a:xfrm>
            <a:off x="640080" y="18288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PM2.5 médio anual</a:t>
            </a:r>
            <a:endParaRPr/>
          </a:p>
        </p:txBody>
      </p:sp>
      <p:sp>
        <p:nvSpPr>
          <p:cNvPr id="433" name="Google Shape;433;p9"/>
          <p:cNvSpPr txBox="1"/>
          <p:nvPr/>
        </p:nvSpPr>
        <p:spPr>
          <a:xfrm>
            <a:off x="3291840" y="182880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11,55 µg/m³</a:t>
            </a:r>
            <a:endParaRPr/>
          </a:p>
        </p:txBody>
      </p:sp>
      <p:sp>
        <p:nvSpPr>
          <p:cNvPr id="434" name="Google Shape;434;p9"/>
          <p:cNvSpPr txBox="1"/>
          <p:nvPr/>
        </p:nvSpPr>
        <p:spPr>
          <a:xfrm>
            <a:off x="640080" y="230428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Desvio padrão</a:t>
            </a:r>
            <a:endParaRPr/>
          </a:p>
        </p:txBody>
      </p:sp>
      <p:sp>
        <p:nvSpPr>
          <p:cNvPr id="435" name="Google Shape;435;p9"/>
          <p:cNvSpPr txBox="1"/>
          <p:nvPr/>
        </p:nvSpPr>
        <p:spPr>
          <a:xfrm>
            <a:off x="3291840" y="230428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11,91 µg/m³</a:t>
            </a:r>
            <a:endParaRPr/>
          </a:p>
        </p:txBody>
      </p:sp>
      <p:sp>
        <p:nvSpPr>
          <p:cNvPr id="436" name="Google Shape;436;p9"/>
          <p:cNvSpPr txBox="1"/>
          <p:nvPr/>
        </p:nvSpPr>
        <p:spPr>
          <a:xfrm>
            <a:off x="640080" y="277977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Pico máximo (out/25)</a:t>
            </a:r>
            <a:endParaRPr/>
          </a:p>
        </p:txBody>
      </p:sp>
      <p:sp>
        <p:nvSpPr>
          <p:cNvPr id="437" name="Google Shape;437;p9"/>
          <p:cNvSpPr txBox="1"/>
          <p:nvPr/>
        </p:nvSpPr>
        <p:spPr>
          <a:xfrm>
            <a:off x="3291840" y="2779776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2222"/>
                </a:solidFill>
                <a:latin typeface="Calibri"/>
                <a:ea typeface="Calibri"/>
                <a:cs typeface="Calibri"/>
                <a:sym typeface="Calibri"/>
              </a:rPr>
              <a:t>156,9 µg/m³</a:t>
            </a:r>
            <a:endParaRPr/>
          </a:p>
        </p:txBody>
      </p:sp>
      <p:sp>
        <p:nvSpPr>
          <p:cNvPr id="438" name="Google Shape;438;p9"/>
          <p:cNvSpPr txBox="1"/>
          <p:nvPr/>
        </p:nvSpPr>
        <p:spPr>
          <a:xfrm>
            <a:off x="640080" y="325526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Mediana (P50)</a:t>
            </a:r>
            <a:endParaRPr/>
          </a:p>
        </p:txBody>
      </p:sp>
      <p:sp>
        <p:nvSpPr>
          <p:cNvPr id="439" name="Google Shape;439;p9"/>
          <p:cNvSpPr txBox="1"/>
          <p:nvPr/>
        </p:nvSpPr>
        <p:spPr>
          <a:xfrm>
            <a:off x="3291840" y="325526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7,32 µg/m³</a:t>
            </a:r>
            <a:endParaRPr/>
          </a:p>
        </p:txBody>
      </p:sp>
      <p:sp>
        <p:nvSpPr>
          <p:cNvPr id="440" name="Google Shape;440;p9"/>
          <p:cNvSpPr txBox="1"/>
          <p:nvPr/>
        </p:nvSpPr>
        <p:spPr>
          <a:xfrm>
            <a:off x="640080" y="373075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P95</a:t>
            </a:r>
            <a:endParaRPr/>
          </a:p>
        </p:txBody>
      </p:sp>
      <p:sp>
        <p:nvSpPr>
          <p:cNvPr id="441" name="Google Shape;441;p9"/>
          <p:cNvSpPr txBox="1"/>
          <p:nvPr/>
        </p:nvSpPr>
        <p:spPr>
          <a:xfrm>
            <a:off x="3291840" y="373075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35,66 µg/m³ — Ruim (OMS)</a:t>
            </a:r>
            <a:endParaRPr/>
          </a:p>
        </p:txBody>
      </p:sp>
      <p:sp>
        <p:nvSpPr>
          <p:cNvPr id="442" name="Google Shape;442;p9"/>
          <p:cNvSpPr txBox="1"/>
          <p:nvPr/>
        </p:nvSpPr>
        <p:spPr>
          <a:xfrm>
            <a:off x="640080" y="42062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P99</a:t>
            </a:r>
            <a:endParaRPr/>
          </a:p>
        </p:txBody>
      </p:sp>
      <p:sp>
        <p:nvSpPr>
          <p:cNvPr id="443" name="Google Shape;443;p9"/>
          <p:cNvSpPr txBox="1"/>
          <p:nvPr/>
        </p:nvSpPr>
        <p:spPr>
          <a:xfrm>
            <a:off x="3291840" y="420624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2222"/>
                </a:solidFill>
                <a:latin typeface="Calibri"/>
                <a:ea typeface="Calibri"/>
                <a:cs typeface="Calibri"/>
                <a:sym typeface="Calibri"/>
              </a:rPr>
              <a:t>54,44 µg/m³ — Perigoso</a:t>
            </a:r>
            <a:endParaRPr/>
          </a:p>
        </p:txBody>
      </p:sp>
      <p:sp>
        <p:nvSpPr>
          <p:cNvPr id="444" name="Google Shape;444;p9"/>
          <p:cNvSpPr txBox="1"/>
          <p:nvPr/>
        </p:nvSpPr>
        <p:spPr>
          <a:xfrm>
            <a:off x="640080" y="4681727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Estação seca vs chuvosa</a:t>
            </a:r>
            <a:endParaRPr/>
          </a:p>
        </p:txBody>
      </p:sp>
      <p:sp>
        <p:nvSpPr>
          <p:cNvPr id="445" name="Google Shape;445;p9"/>
          <p:cNvSpPr txBox="1"/>
          <p:nvPr/>
        </p:nvSpPr>
        <p:spPr>
          <a:xfrm>
            <a:off x="3291840" y="4681727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5,3× maior (22,3 vs 4,2 µg/m³)</a:t>
            </a:r>
            <a:endParaRPr/>
          </a:p>
        </p:txBody>
      </p:sp>
      <p:sp>
        <p:nvSpPr>
          <p:cNvPr id="446" name="Google Shape;446;p9"/>
          <p:cNvSpPr/>
          <p:nvPr/>
        </p:nvSpPr>
        <p:spPr>
          <a:xfrm>
            <a:off x="6126480" y="1143000"/>
            <a:ext cx="5577840" cy="5047488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6126480" y="1261872"/>
            <a:ext cx="54864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9"/>
          <p:cNvSpPr txBox="1"/>
          <p:nvPr/>
        </p:nvSpPr>
        <p:spPr>
          <a:xfrm>
            <a:off x="6336792" y="118872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Achados-Chave para o Modelo</a:t>
            </a:r>
            <a:endParaRPr/>
          </a:p>
        </p:txBody>
      </p:sp>
      <p:sp>
        <p:nvSpPr>
          <p:cNvPr id="449" name="Google Shape;449;p9"/>
          <p:cNvSpPr txBox="1"/>
          <p:nvPr/>
        </p:nvSpPr>
        <p:spPr>
          <a:xfrm>
            <a:off x="6336792" y="1847088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Duplo pico horário</a:t>
            </a:r>
            <a:endParaRPr/>
          </a:p>
        </p:txBody>
      </p:sp>
      <p:sp>
        <p:nvSpPr>
          <p:cNvPr id="450" name="Google Shape;450;p9"/>
          <p:cNvSpPr txBox="1"/>
          <p:nvPr/>
        </p:nvSpPr>
        <p:spPr>
          <a:xfrm>
            <a:off x="6336792" y="21488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7–9h (tráfego) e 19–21h (inversão térmica) → features cíclicas seno/cosseno da hora</a:t>
            </a:r>
            <a:endParaRPr/>
          </a:p>
        </p:txBody>
      </p:sp>
      <p:sp>
        <p:nvSpPr>
          <p:cNvPr id="451" name="Google Shape;451;p9"/>
          <p:cNvSpPr txBox="1"/>
          <p:nvPr/>
        </p:nvSpPr>
        <p:spPr>
          <a:xfrm>
            <a:off x="6336792" y="2651760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🌧️ Efeito da chuva</a:t>
            </a:r>
            <a:endParaRPr/>
          </a:p>
        </p:txBody>
      </p:sp>
      <p:sp>
        <p:nvSpPr>
          <p:cNvPr id="452" name="Google Shape;452;p9"/>
          <p:cNvSpPr txBox="1"/>
          <p:nvPr/>
        </p:nvSpPr>
        <p:spPr>
          <a:xfrm>
            <a:off x="6336792" y="295351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Dias com &gt; 5mm de chuva → redução de 34% no PM2.5 → feature chuva acumulada 6h</a:t>
            </a:r>
            <a:endParaRPr/>
          </a:p>
        </p:txBody>
      </p:sp>
      <p:sp>
        <p:nvSpPr>
          <p:cNvPr id="453" name="Google Shape;453;p9"/>
          <p:cNvSpPr txBox="1"/>
          <p:nvPr/>
        </p:nvSpPr>
        <p:spPr>
          <a:xfrm>
            <a:off x="6336792" y="3456432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 Heterogeneidade espacial</a:t>
            </a:r>
            <a:endParaRPr/>
          </a:p>
        </p:txBody>
      </p:sp>
      <p:sp>
        <p:nvSpPr>
          <p:cNvPr id="454" name="Google Shape;454;p9"/>
          <p:cNvSpPr txBox="1"/>
          <p:nvPr/>
        </p:nvSpPr>
        <p:spPr>
          <a:xfrm>
            <a:off x="6336792" y="3758183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UnB Gama: AQI 13,4 vs Finatec: 7,8 → spread 70% → expansão de sensores prioritária</a:t>
            </a:r>
            <a:endParaRPr/>
          </a:p>
        </p:txBody>
      </p:sp>
      <p:sp>
        <p:nvSpPr>
          <p:cNvPr id="455" name="Google Shape;455;p9"/>
          <p:cNvSpPr txBox="1"/>
          <p:nvPr/>
        </p:nvSpPr>
        <p:spPr>
          <a:xfrm>
            <a:off x="6336792" y="4261104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Correlação PM2.5 × NO2</a:t>
            </a:r>
            <a:endParaRPr/>
          </a:p>
        </p:txBody>
      </p:sp>
      <p:sp>
        <p:nvSpPr>
          <p:cNvPr id="456" name="Google Shape;456;p9"/>
          <p:cNvSpPr txBox="1"/>
          <p:nvPr/>
        </p:nvSpPr>
        <p:spPr>
          <a:xfrm>
            <a:off x="6336792" y="4562856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 = 0,47 · na estação seca NO2 explica 60% da variância → input do modelo</a:t>
            </a:r>
            <a:endParaRPr/>
          </a:p>
        </p:txBody>
      </p:sp>
      <p:sp>
        <p:nvSpPr>
          <p:cNvPr id="457" name="Google Shape;457;p9"/>
          <p:cNvSpPr txBox="1"/>
          <p:nvPr/>
        </p:nvSpPr>
        <p:spPr>
          <a:xfrm>
            <a:off x="6336792" y="5065776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Sensor frozen flag</a:t>
            </a:r>
            <a:endParaRPr/>
          </a:p>
        </p:txBody>
      </p:sp>
      <p:sp>
        <p:nvSpPr>
          <p:cNvPr id="458" name="Google Shape;458;p9"/>
          <p:cNvSpPr txBox="1"/>
          <p:nvPr/>
        </p:nvSpPr>
        <p:spPr>
          <a:xfrm>
            <a:off x="6336792" y="5367528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32.255 registros sinalizados (IQAir) → alerta de qualidade, não remoção imediata</a:t>
            </a:r>
            <a:endParaRPr/>
          </a:p>
        </p:txBody>
      </p:sp>
      <p:sp>
        <p:nvSpPr>
          <p:cNvPr id="459" name="Google Shape;459;p9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Trade-offs da Arquitetura</a:t>
            </a:r>
            <a:endParaRPr/>
          </a:p>
        </p:txBody>
      </p:sp>
      <p:sp>
        <p:nvSpPr>
          <p:cNvPr id="468" name="Google Shape;468;p10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Acoplamento · Escalabilidade · Disponibilidade · Confiabilidade · Reversibilidade</a:t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320040" y="1188720"/>
            <a:ext cx="2240280" cy="498348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320040" y="1188720"/>
            <a:ext cx="224028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 txBox="1"/>
          <p:nvPr/>
        </p:nvSpPr>
        <p:spPr>
          <a:xfrm>
            <a:off x="365759" y="120700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Acoplamento</a:t>
            </a:r>
            <a:endParaRPr/>
          </a:p>
        </p:txBody>
      </p:sp>
      <p:sp>
        <p:nvSpPr>
          <p:cNvPr id="472" name="Google Shape;472;p10"/>
          <p:cNvSpPr/>
          <p:nvPr/>
        </p:nvSpPr>
        <p:spPr>
          <a:xfrm>
            <a:off x="411479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 txBox="1"/>
          <p:nvPr/>
        </p:nvSpPr>
        <p:spPr>
          <a:xfrm>
            <a:off x="429768" y="1737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Vantagem</a:t>
            </a:r>
            <a:endParaRPr/>
          </a:p>
        </p:txBody>
      </p:sp>
      <p:sp>
        <p:nvSpPr>
          <p:cNvPr id="474" name="Google Shape;474;p10"/>
          <p:cNvSpPr txBox="1"/>
          <p:nvPr/>
        </p:nvSpPr>
        <p:spPr>
          <a:xfrm>
            <a:off x="429768" y="1993392"/>
            <a:ext cx="199339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Domínios independentes (DDD) — mudança em um domínio não impacta outros.</a:t>
            </a:r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411479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 txBox="1"/>
          <p:nvPr/>
        </p:nvSpPr>
        <p:spPr>
          <a:xfrm>
            <a:off x="429768" y="34015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⚠ Risco</a:t>
            </a:r>
            <a:endParaRPr/>
          </a:p>
        </p:txBody>
      </p:sp>
      <p:sp>
        <p:nvSpPr>
          <p:cNvPr id="477" name="Google Shape;477;p10"/>
          <p:cNvSpPr txBox="1"/>
          <p:nvPr/>
        </p:nvSpPr>
        <p:spPr>
          <a:xfrm>
            <a:off x="429768" y="3657600"/>
            <a:ext cx="199339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Requer contratos claros de dados entre domínios.</a:t>
            </a:r>
            <a:endParaRPr/>
          </a:p>
        </p:txBody>
      </p:sp>
      <p:sp>
        <p:nvSpPr>
          <p:cNvPr id="478" name="Google Shape;478;p10"/>
          <p:cNvSpPr/>
          <p:nvPr/>
        </p:nvSpPr>
        <p:spPr>
          <a:xfrm>
            <a:off x="2679192" y="1188720"/>
            <a:ext cx="2240280" cy="498348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2679192" y="1188720"/>
            <a:ext cx="2240280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0"/>
          <p:cNvSpPr txBox="1"/>
          <p:nvPr/>
        </p:nvSpPr>
        <p:spPr>
          <a:xfrm>
            <a:off x="2724912" y="120700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Escalabilidade</a:t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2770632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0"/>
          <p:cNvSpPr txBox="1"/>
          <p:nvPr/>
        </p:nvSpPr>
        <p:spPr>
          <a:xfrm>
            <a:off x="2788920" y="1737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Vantagem</a:t>
            </a:r>
            <a:endParaRPr/>
          </a:p>
        </p:txBody>
      </p:sp>
      <p:sp>
        <p:nvSpPr>
          <p:cNvPr id="483" name="Google Shape;483;p10"/>
          <p:cNvSpPr txBox="1"/>
          <p:nvPr/>
        </p:nvSpPr>
        <p:spPr>
          <a:xfrm>
            <a:off x="2788920" y="1993392"/>
            <a:ext cx="199339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MinIO + Spark escalam horizontalmente; Delta Lake suporta volume crescente.</a:t>
            </a:r>
            <a:endParaRPr/>
          </a:p>
        </p:txBody>
      </p:sp>
      <p:sp>
        <p:nvSpPr>
          <p:cNvPr id="484" name="Google Shape;484;p10"/>
          <p:cNvSpPr/>
          <p:nvPr/>
        </p:nvSpPr>
        <p:spPr>
          <a:xfrm>
            <a:off x="2770632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0"/>
          <p:cNvSpPr txBox="1"/>
          <p:nvPr/>
        </p:nvSpPr>
        <p:spPr>
          <a:xfrm>
            <a:off x="2788920" y="34015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⚠ Risco</a:t>
            </a:r>
            <a:endParaRPr/>
          </a:p>
        </p:txBody>
      </p:sp>
      <p:sp>
        <p:nvSpPr>
          <p:cNvPr id="486" name="Google Shape;486;p10"/>
          <p:cNvSpPr txBox="1"/>
          <p:nvPr/>
        </p:nvSpPr>
        <p:spPr>
          <a:xfrm>
            <a:off x="2788920" y="3657600"/>
            <a:ext cx="199339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Ambiente local tem limite de RAM/CPU para Spark local mode.</a:t>
            </a:r>
            <a:endParaRPr/>
          </a:p>
        </p:txBody>
      </p:sp>
      <p:sp>
        <p:nvSpPr>
          <p:cNvPr id="487" name="Google Shape;487;p10"/>
          <p:cNvSpPr/>
          <p:nvPr/>
        </p:nvSpPr>
        <p:spPr>
          <a:xfrm>
            <a:off x="5038344" y="1188720"/>
            <a:ext cx="2240280" cy="498348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5038344" y="1188720"/>
            <a:ext cx="2240280" cy="457200"/>
          </a:xfrm>
          <a:prstGeom prst="rect">
            <a:avLst/>
          </a:prstGeom>
          <a:solidFill>
            <a:srgbClr val="F5C5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 txBox="1"/>
          <p:nvPr/>
        </p:nvSpPr>
        <p:spPr>
          <a:xfrm>
            <a:off x="5084064" y="120700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Disponibilidade</a:t>
            </a:r>
            <a:endParaRPr/>
          </a:p>
        </p:txBody>
      </p:sp>
      <p:sp>
        <p:nvSpPr>
          <p:cNvPr id="490" name="Google Shape;490;p10"/>
          <p:cNvSpPr/>
          <p:nvPr/>
        </p:nvSpPr>
        <p:spPr>
          <a:xfrm>
            <a:off x="5129783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 txBox="1"/>
          <p:nvPr/>
        </p:nvSpPr>
        <p:spPr>
          <a:xfrm>
            <a:off x="5148072" y="1737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Vantagem</a:t>
            </a:r>
            <a:endParaRPr/>
          </a:p>
        </p:txBody>
      </p:sp>
      <p:sp>
        <p:nvSpPr>
          <p:cNvPr id="492" name="Google Shape;492;p10"/>
          <p:cNvSpPr txBox="1"/>
          <p:nvPr/>
        </p:nvSpPr>
        <p:spPr>
          <a:xfrm>
            <a:off x="5148072" y="1993392"/>
            <a:ext cx="199339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Retry automático no Airflow; Delta Lake evita corrompimento em falha de escrita.</a:t>
            </a:r>
            <a:endParaRPr/>
          </a:p>
        </p:txBody>
      </p:sp>
      <p:sp>
        <p:nvSpPr>
          <p:cNvPr id="493" name="Google Shape;493;p10"/>
          <p:cNvSpPr/>
          <p:nvPr/>
        </p:nvSpPr>
        <p:spPr>
          <a:xfrm>
            <a:off x="5129783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 txBox="1"/>
          <p:nvPr/>
        </p:nvSpPr>
        <p:spPr>
          <a:xfrm>
            <a:off x="5148072" y="34015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⚠ Risco</a:t>
            </a:r>
            <a:endParaRPr/>
          </a:p>
        </p:txBody>
      </p:sp>
      <p:sp>
        <p:nvSpPr>
          <p:cNvPr id="495" name="Google Shape;495;p10"/>
          <p:cNvSpPr txBox="1"/>
          <p:nvPr/>
        </p:nvSpPr>
        <p:spPr>
          <a:xfrm>
            <a:off x="5148072" y="3657600"/>
            <a:ext cx="199339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APIs externas (IQAir, INMET) sem garantia de SLA 99,9%.</a:t>
            </a:r>
            <a:endParaRPr/>
          </a:p>
        </p:txBody>
      </p:sp>
      <p:sp>
        <p:nvSpPr>
          <p:cNvPr id="496" name="Google Shape;496;p10"/>
          <p:cNvSpPr/>
          <p:nvPr/>
        </p:nvSpPr>
        <p:spPr>
          <a:xfrm>
            <a:off x="7397496" y="1188720"/>
            <a:ext cx="2240280" cy="498348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7397496" y="1188720"/>
            <a:ext cx="2240280" cy="457200"/>
          </a:xfrm>
          <a:prstGeom prst="rect">
            <a:avLst/>
          </a:prstGeom>
          <a:solidFill>
            <a:srgbClr val="2DC6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 txBox="1"/>
          <p:nvPr/>
        </p:nvSpPr>
        <p:spPr>
          <a:xfrm>
            <a:off x="7443216" y="120700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Confiabilidade</a:t>
            </a: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7488936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 txBox="1"/>
          <p:nvPr/>
        </p:nvSpPr>
        <p:spPr>
          <a:xfrm>
            <a:off x="7507223" y="1737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Vantagem</a:t>
            </a:r>
            <a:endParaRPr/>
          </a:p>
        </p:txBody>
      </p:sp>
      <p:sp>
        <p:nvSpPr>
          <p:cNvPr id="501" name="Google Shape;501;p10"/>
          <p:cNvSpPr txBox="1"/>
          <p:nvPr/>
        </p:nvSpPr>
        <p:spPr>
          <a:xfrm>
            <a:off x="7507223" y="1993392"/>
            <a:ext cx="199339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ACID via Delta Lake + Great Expectations bloqueiam dados inválidos na entrada.</a:t>
            </a:r>
            <a:endParaRPr/>
          </a:p>
        </p:txBody>
      </p:sp>
      <p:sp>
        <p:nvSpPr>
          <p:cNvPr id="502" name="Google Shape;502;p10"/>
          <p:cNvSpPr/>
          <p:nvPr/>
        </p:nvSpPr>
        <p:spPr>
          <a:xfrm>
            <a:off x="7488936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 txBox="1"/>
          <p:nvPr/>
        </p:nvSpPr>
        <p:spPr>
          <a:xfrm>
            <a:off x="7507223" y="34015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⚠ Risco</a:t>
            </a:r>
            <a:endParaRPr/>
          </a:p>
        </p:txBody>
      </p:sp>
      <p:sp>
        <p:nvSpPr>
          <p:cNvPr id="504" name="Google Shape;504;p10"/>
          <p:cNvSpPr txBox="1"/>
          <p:nvPr/>
        </p:nvSpPr>
        <p:spPr>
          <a:xfrm>
            <a:off x="7507223" y="3657600"/>
            <a:ext cx="199339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Open-Meteo forecast pode ter desvio em eventos climáticos extremos.</a:t>
            </a:r>
            <a:endParaRPr/>
          </a:p>
        </p:txBody>
      </p:sp>
      <p:sp>
        <p:nvSpPr>
          <p:cNvPr id="505" name="Google Shape;505;p10"/>
          <p:cNvSpPr/>
          <p:nvPr/>
        </p:nvSpPr>
        <p:spPr>
          <a:xfrm>
            <a:off x="9756648" y="1188720"/>
            <a:ext cx="2240280" cy="4983480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9756648" y="1188720"/>
            <a:ext cx="224028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0"/>
          <p:cNvSpPr txBox="1"/>
          <p:nvPr/>
        </p:nvSpPr>
        <p:spPr>
          <a:xfrm>
            <a:off x="9802368" y="120700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Reversibilidade</a:t>
            </a:r>
            <a:endParaRPr/>
          </a:p>
        </p:txBody>
      </p:sp>
      <p:sp>
        <p:nvSpPr>
          <p:cNvPr id="508" name="Google Shape;508;p10"/>
          <p:cNvSpPr/>
          <p:nvPr/>
        </p:nvSpPr>
        <p:spPr>
          <a:xfrm>
            <a:off x="9848088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0"/>
          <p:cNvSpPr txBox="1"/>
          <p:nvPr/>
        </p:nvSpPr>
        <p:spPr>
          <a:xfrm>
            <a:off x="9866376" y="1737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Vantagem</a:t>
            </a:r>
            <a:endParaRPr/>
          </a:p>
        </p:txBody>
      </p:sp>
      <p:sp>
        <p:nvSpPr>
          <p:cNvPr id="510" name="Google Shape;510;p10"/>
          <p:cNvSpPr txBox="1"/>
          <p:nvPr/>
        </p:nvSpPr>
        <p:spPr>
          <a:xfrm>
            <a:off x="9866376" y="1993392"/>
            <a:ext cx="199339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Time travel Delta Lake permite rollback a qualquer versão; dbt versionado no Git.</a:t>
            </a:r>
            <a:endParaRPr/>
          </a:p>
        </p:txBody>
      </p:sp>
      <p:sp>
        <p:nvSpPr>
          <p:cNvPr id="511" name="Google Shape;511;p10"/>
          <p:cNvSpPr/>
          <p:nvPr/>
        </p:nvSpPr>
        <p:spPr>
          <a:xfrm>
            <a:off x="9848088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 txBox="1"/>
          <p:nvPr/>
        </p:nvSpPr>
        <p:spPr>
          <a:xfrm>
            <a:off x="9866376" y="34015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⚠ Risco</a:t>
            </a:r>
            <a:endParaRPr/>
          </a:p>
        </p:txBody>
      </p:sp>
      <p:sp>
        <p:nvSpPr>
          <p:cNvPr id="513" name="Google Shape;513;p10"/>
          <p:cNvSpPr txBox="1"/>
          <p:nvPr/>
        </p:nvSpPr>
        <p:spPr>
          <a:xfrm>
            <a:off x="9866376" y="3657600"/>
            <a:ext cx="199339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Reprocessamento de grandes volumes pode ser lento em hardware limitado.</a:t>
            </a:r>
            <a:endParaRPr/>
          </a:p>
        </p:txBody>
      </p:sp>
      <p:sp>
        <p:nvSpPr>
          <p:cNvPr id="514" name="Google Shape;514;p10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1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Considerações Finais</a:t>
            </a:r>
            <a:endParaRPr/>
          </a:p>
        </p:txBody>
      </p:sp>
      <p:sp>
        <p:nvSpPr>
          <p:cNvPr id="523" name="Google Shape;523;p11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Riscos · Limitações · Próximos Passos — Parte 2</a:t>
            </a:r>
            <a:endParaRPr/>
          </a:p>
        </p:txBody>
      </p:sp>
      <p:sp>
        <p:nvSpPr>
          <p:cNvPr id="524" name="Google Shape;524;p11"/>
          <p:cNvSpPr/>
          <p:nvPr/>
        </p:nvSpPr>
        <p:spPr>
          <a:xfrm>
            <a:off x="457200" y="1143000"/>
            <a:ext cx="5486400" cy="5047488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457200" y="1261872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1"/>
          <p:cNvSpPr txBox="1"/>
          <p:nvPr/>
        </p:nvSpPr>
        <p:spPr>
          <a:xfrm>
            <a:off x="667512" y="118872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Principais Riscos e Limitações</a:t>
            </a:r>
            <a:endParaRPr/>
          </a:p>
        </p:txBody>
      </p:sp>
      <p:sp>
        <p:nvSpPr>
          <p:cNvPr id="527" name="Google Shape;527;p11"/>
          <p:cNvSpPr txBox="1"/>
          <p:nvPr/>
        </p:nvSpPr>
        <p:spPr>
          <a:xfrm>
            <a:off x="640080" y="180136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 externas sem SLA</a:t>
            </a:r>
            <a:endParaRPr/>
          </a:p>
        </p:txBody>
      </p:sp>
      <p:sp>
        <p:nvSpPr>
          <p:cNvPr id="528" name="Google Shape;528;p11"/>
          <p:cNvSpPr txBox="1"/>
          <p:nvPr/>
        </p:nvSpPr>
        <p:spPr>
          <a:xfrm>
            <a:off x="2423160" y="180136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IQAir/INMET podem ficar fora do ar</a:t>
            </a:r>
            <a:endParaRPr/>
          </a:p>
        </p:txBody>
      </p:sp>
      <p:sp>
        <p:nvSpPr>
          <p:cNvPr id="529" name="Google Shape;529;p11"/>
          <p:cNvSpPr txBox="1"/>
          <p:nvPr/>
        </p:nvSpPr>
        <p:spPr>
          <a:xfrm>
            <a:off x="4114800" y="180136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Cache da última leitura + retry Airflow</a:t>
            </a:r>
            <a:endParaRPr/>
          </a:p>
        </p:txBody>
      </p:sp>
      <p:sp>
        <p:nvSpPr>
          <p:cNvPr id="530" name="Google Shape;530;p11"/>
          <p:cNvSpPr txBox="1"/>
          <p:nvPr/>
        </p:nvSpPr>
        <p:spPr>
          <a:xfrm>
            <a:off x="640080" y="239572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RAM em Spark local</a:t>
            </a:r>
            <a:endParaRPr/>
          </a:p>
        </p:txBody>
      </p:sp>
      <p:sp>
        <p:nvSpPr>
          <p:cNvPr id="531" name="Google Shape;531;p11"/>
          <p:cNvSpPr txBox="1"/>
          <p:nvPr/>
        </p:nvSpPr>
        <p:spPr>
          <a:xfrm>
            <a:off x="2423160" y="239572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Até 8 GB para os volumes atuais</a:t>
            </a:r>
            <a:endParaRPr/>
          </a:p>
        </p:txBody>
      </p:sp>
      <p:sp>
        <p:nvSpPr>
          <p:cNvPr id="532" name="Google Shape;532;p11"/>
          <p:cNvSpPr txBox="1"/>
          <p:nvPr/>
        </p:nvSpPr>
        <p:spPr>
          <a:xfrm>
            <a:off x="4114800" y="239572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Pandas para vol. pequenos em dev</a:t>
            </a:r>
            <a:endParaRPr/>
          </a:p>
        </p:txBody>
      </p:sp>
      <p:sp>
        <p:nvSpPr>
          <p:cNvPr id="533" name="Google Shape;533;p11"/>
          <p:cNvSpPr txBox="1"/>
          <p:nvPr/>
        </p:nvSpPr>
        <p:spPr>
          <a:xfrm>
            <a:off x="640080" y="299008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Cobertura espacial</a:t>
            </a:r>
            <a:endParaRPr/>
          </a:p>
        </p:txBody>
      </p:sp>
      <p:sp>
        <p:nvSpPr>
          <p:cNvPr id="534" name="Google Shape;534;p11"/>
          <p:cNvSpPr txBox="1"/>
          <p:nvPr/>
        </p:nvSpPr>
        <p:spPr>
          <a:xfrm>
            <a:off x="2423160" y="299008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4 sensores só cobrem partes de BSB</a:t>
            </a:r>
            <a:endParaRPr/>
          </a:p>
        </p:txBody>
      </p:sp>
      <p:sp>
        <p:nvSpPr>
          <p:cNvPr id="535" name="Google Shape;535;p11"/>
          <p:cNvSpPr txBox="1"/>
          <p:nvPr/>
        </p:nvSpPr>
        <p:spPr>
          <a:xfrm>
            <a:off x="4114800" y="299008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Priorizar expansão para cidades satélites</a:t>
            </a:r>
            <a:endParaRPr/>
          </a:p>
        </p:txBody>
      </p:sp>
      <p:sp>
        <p:nvSpPr>
          <p:cNvPr id="536" name="Google Shape;536;p11"/>
          <p:cNvSpPr txBox="1"/>
          <p:nvPr/>
        </p:nvSpPr>
        <p:spPr>
          <a:xfrm>
            <a:off x="640080" y="35844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Dados de 2025</a:t>
            </a:r>
            <a:endParaRPr/>
          </a:p>
        </p:txBody>
      </p:sp>
      <p:sp>
        <p:nvSpPr>
          <p:cNvPr id="537" name="Google Shape;537;p11"/>
          <p:cNvSpPr txBox="1"/>
          <p:nvPr/>
        </p:nvSpPr>
        <p:spPr>
          <a:xfrm>
            <a:off x="2423160" y="358444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El Niño/eventos extremos em 2026</a:t>
            </a:r>
            <a:endParaRPr/>
          </a:p>
        </p:txBody>
      </p:sp>
      <p:sp>
        <p:nvSpPr>
          <p:cNvPr id="538" name="Google Shape;538;p11"/>
          <p:cNvSpPr txBox="1"/>
          <p:nvPr/>
        </p:nvSpPr>
        <p:spPr>
          <a:xfrm>
            <a:off x="4114800" y="358444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Monitorar desvio do modelo mensalmente</a:t>
            </a:r>
            <a:endParaRPr/>
          </a:p>
        </p:txBody>
      </p:sp>
      <p:sp>
        <p:nvSpPr>
          <p:cNvPr id="539" name="Google Shape;539;p11"/>
          <p:cNvSpPr txBox="1"/>
          <p:nvPr/>
        </p:nvSpPr>
        <p:spPr>
          <a:xfrm>
            <a:off x="640080" y="417880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Complexidade dbt+Spark</a:t>
            </a:r>
            <a:endParaRPr/>
          </a:p>
        </p:txBody>
      </p:sp>
      <p:sp>
        <p:nvSpPr>
          <p:cNvPr id="540" name="Google Shape;540;p11"/>
          <p:cNvSpPr txBox="1"/>
          <p:nvPr/>
        </p:nvSpPr>
        <p:spPr>
          <a:xfrm>
            <a:off x="2423160" y="417880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Curva de aprendizado steep</a:t>
            </a:r>
            <a:endParaRPr/>
          </a:p>
        </p:txBody>
      </p:sp>
      <p:sp>
        <p:nvSpPr>
          <p:cNvPr id="541" name="Google Shape;541;p11"/>
          <p:cNvSpPr txBox="1"/>
          <p:nvPr/>
        </p:nvSpPr>
        <p:spPr>
          <a:xfrm>
            <a:off x="4114800" y="417880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DuckDB local para dev de modelos dbt</a:t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6172200" y="1143000"/>
            <a:ext cx="5532120" cy="5047488"/>
          </a:xfrm>
          <a:prstGeom prst="rect">
            <a:avLst/>
          </a:prstGeom>
          <a:solidFill>
            <a:srgbClr val="122642"/>
          </a:solidFill>
          <a:ln cap="flat" cmpd="sng" w="9525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/>
          <p:nvPr/>
        </p:nvSpPr>
        <p:spPr>
          <a:xfrm>
            <a:off x="6172200" y="1261872"/>
            <a:ext cx="54864" cy="502920"/>
          </a:xfrm>
          <a:prstGeom prst="rect">
            <a:avLst/>
          </a:prstGeom>
          <a:solidFill>
            <a:srgbClr val="2DC6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1"/>
          <p:cNvSpPr txBox="1"/>
          <p:nvPr/>
        </p:nvSpPr>
        <p:spPr>
          <a:xfrm>
            <a:off x="6373368" y="1188720"/>
            <a:ext cx="5166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Próximos Passos — Parte 2</a:t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6263640" y="1837943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 txBox="1"/>
          <p:nvPr/>
        </p:nvSpPr>
        <p:spPr>
          <a:xfrm>
            <a:off x="6281928" y="1847088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1</a:t>
            </a:r>
            <a:endParaRPr/>
          </a:p>
        </p:txBody>
      </p:sp>
      <p:sp>
        <p:nvSpPr>
          <p:cNvPr id="547" name="Google Shape;547;p11"/>
          <p:cNvSpPr txBox="1"/>
          <p:nvPr/>
        </p:nvSpPr>
        <p:spPr>
          <a:xfrm>
            <a:off x="6702552" y="1801368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Docker Compose: MinIO, Spark, Airflow, Grafana + dados sintéticos para teste</a:t>
            </a:r>
            <a:endParaRPr/>
          </a:p>
        </p:txBody>
      </p:sp>
      <p:sp>
        <p:nvSpPr>
          <p:cNvPr id="548" name="Google Shape;548;p11"/>
          <p:cNvSpPr/>
          <p:nvPr/>
        </p:nvSpPr>
        <p:spPr>
          <a:xfrm>
            <a:off x="6263640" y="2459736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1"/>
          <p:cNvSpPr txBox="1"/>
          <p:nvPr/>
        </p:nvSpPr>
        <p:spPr>
          <a:xfrm>
            <a:off x="6281928" y="2468879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2</a:t>
            </a:r>
            <a:endParaRPr/>
          </a:p>
        </p:txBody>
      </p:sp>
      <p:sp>
        <p:nvSpPr>
          <p:cNvPr id="550" name="Google Shape;550;p11"/>
          <p:cNvSpPr txBox="1"/>
          <p:nvPr/>
        </p:nvSpPr>
        <p:spPr>
          <a:xfrm>
            <a:off x="6702552" y="2423160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Clientes API (IQAir, INMET, Open-Meteo) + schema validation + Bronze Delta</a:t>
            </a: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6263640" y="3081528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1"/>
          <p:cNvSpPr txBox="1"/>
          <p:nvPr/>
        </p:nvSpPr>
        <p:spPr>
          <a:xfrm>
            <a:off x="6281928" y="3090672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2–3</a:t>
            </a:r>
            <a:endParaRPr/>
          </a:p>
        </p:txBody>
      </p:sp>
      <p:sp>
        <p:nvSpPr>
          <p:cNvPr id="553" name="Google Shape;553;p11"/>
          <p:cNvSpPr txBox="1"/>
          <p:nvPr/>
        </p:nvSpPr>
        <p:spPr>
          <a:xfrm>
            <a:off x="6702552" y="3044952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PySpark jobs Bronze→Silver + Great Expectations automático</a:t>
            </a:r>
            <a:endParaRPr/>
          </a:p>
        </p:txBody>
      </p:sp>
      <p:sp>
        <p:nvSpPr>
          <p:cNvPr id="554" name="Google Shape;554;p11"/>
          <p:cNvSpPr/>
          <p:nvPr/>
        </p:nvSpPr>
        <p:spPr>
          <a:xfrm>
            <a:off x="6263640" y="3703320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1"/>
          <p:cNvSpPr txBox="1"/>
          <p:nvPr/>
        </p:nvSpPr>
        <p:spPr>
          <a:xfrm>
            <a:off x="6281928" y="3712463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3</a:t>
            </a:r>
            <a:endParaRPr/>
          </a:p>
        </p:txBody>
      </p:sp>
      <p:sp>
        <p:nvSpPr>
          <p:cNvPr id="556" name="Google Shape;556;p11"/>
          <p:cNvSpPr txBox="1"/>
          <p:nvPr/>
        </p:nvSpPr>
        <p:spPr>
          <a:xfrm>
            <a:off x="6702552" y="3666744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Modelos dbt Silver→Gold (86 features) + testes + lineage completo</a:t>
            </a:r>
            <a:endParaRPr/>
          </a:p>
        </p:txBody>
      </p:sp>
      <p:sp>
        <p:nvSpPr>
          <p:cNvPr id="557" name="Google Shape;557;p11"/>
          <p:cNvSpPr/>
          <p:nvPr/>
        </p:nvSpPr>
        <p:spPr>
          <a:xfrm>
            <a:off x="6263640" y="4325112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1"/>
          <p:cNvSpPr txBox="1"/>
          <p:nvPr/>
        </p:nvSpPr>
        <p:spPr>
          <a:xfrm>
            <a:off x="6281928" y="4334255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4</a:t>
            </a:r>
            <a:endParaRPr/>
          </a:p>
        </p:txBody>
      </p:sp>
      <p:sp>
        <p:nvSpPr>
          <p:cNvPr id="559" name="Google Shape;559;p11"/>
          <p:cNvSpPr txBox="1"/>
          <p:nvPr/>
        </p:nvSpPr>
        <p:spPr>
          <a:xfrm>
            <a:off x="6702552" y="4288536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DAGs Airflow batch + alertas Grafana + Metabase dashboards</a:t>
            </a:r>
            <a:endParaRPr/>
          </a:p>
        </p:txBody>
      </p:sp>
      <p:sp>
        <p:nvSpPr>
          <p:cNvPr id="560" name="Google Shape;560;p11"/>
          <p:cNvSpPr/>
          <p:nvPr/>
        </p:nvSpPr>
        <p:spPr>
          <a:xfrm>
            <a:off x="6263640" y="4946903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 txBox="1"/>
          <p:nvPr/>
        </p:nvSpPr>
        <p:spPr>
          <a:xfrm>
            <a:off x="6281928" y="4956047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4</a:t>
            </a:r>
            <a:endParaRPr/>
          </a:p>
        </p:txBody>
      </p:sp>
      <p:sp>
        <p:nvSpPr>
          <p:cNvPr id="562" name="Google Shape;562;p11"/>
          <p:cNvSpPr txBox="1"/>
          <p:nvPr/>
        </p:nvSpPr>
        <p:spPr>
          <a:xfrm>
            <a:off x="6702552" y="4910327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Flask API /predict + XGBoost + latência &lt; 500 ms validada</a:t>
            </a:r>
            <a:endParaRPr/>
          </a:p>
        </p:txBody>
      </p:sp>
      <p:sp>
        <p:nvSpPr>
          <p:cNvPr id="563" name="Google Shape;563;p11"/>
          <p:cNvSpPr/>
          <p:nvPr/>
        </p:nvSpPr>
        <p:spPr>
          <a:xfrm>
            <a:off x="6172200" y="5577840"/>
            <a:ext cx="5532120" cy="512064"/>
          </a:xfrm>
          <a:prstGeom prst="rect">
            <a:avLst/>
          </a:prstGeom>
          <a:solidFill>
            <a:srgbClr val="0630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1"/>
          <p:cNvSpPr txBox="1"/>
          <p:nvPr/>
        </p:nvSpPr>
        <p:spPr>
          <a:xfrm>
            <a:off x="6263640" y="5605272"/>
            <a:ext cx="5349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 Critério: pipeline diário OK · Gold 100% testado · Flask &lt; 500ms · Grafana detecta anomalias</a:t>
            </a:r>
            <a:endParaRPr/>
          </a:p>
        </p:txBody>
      </p:sp>
      <p:sp>
        <p:nvSpPr>
          <p:cNvPr id="565" name="Google Shape;565;p11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8229600" y="-1371600"/>
            <a:ext cx="6858000" cy="6858000"/>
          </a:xfrm>
          <a:prstGeom prst="ellipse">
            <a:avLst/>
          </a:prstGeom>
          <a:solidFill>
            <a:srgbClr val="005F8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8229600" y="-1371600"/>
            <a:ext cx="6858000" cy="6858000"/>
          </a:xfrm>
          <a:prstGeom prst="ellipse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8961120" y="-640080"/>
            <a:ext cx="5303520" cy="5303520"/>
          </a:xfrm>
          <a:prstGeom prst="ellipse">
            <a:avLst/>
          </a:prstGeom>
          <a:solidFill>
            <a:srgbClr val="0D2B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2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0711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-1097280" y="3931920"/>
            <a:ext cx="3566160" cy="3566160"/>
          </a:xfrm>
          <a:prstGeom prst="ellipse">
            <a:avLst/>
          </a:prstGeom>
          <a:solidFill>
            <a:srgbClr val="1A2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 txBox="1"/>
          <p:nvPr/>
        </p:nvSpPr>
        <p:spPr>
          <a:xfrm>
            <a:off x="1371600" y="1371600"/>
            <a:ext cx="9418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MotoAR</a:t>
            </a:r>
            <a:endParaRPr/>
          </a:p>
        </p:txBody>
      </p:sp>
      <p:sp>
        <p:nvSpPr>
          <p:cNvPr id="579" name="Google Shape;579;p12"/>
          <p:cNvSpPr txBox="1"/>
          <p:nvPr/>
        </p:nvSpPr>
        <p:spPr>
          <a:xfrm>
            <a:off x="1371600" y="2651760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Qualidade do Ar · Proteção ao Motociclista · Brasília</a:t>
            </a:r>
            <a:endParaRPr/>
          </a:p>
        </p:txBody>
      </p:sp>
      <p:sp>
        <p:nvSpPr>
          <p:cNvPr id="580" name="Google Shape;580;p12"/>
          <p:cNvSpPr/>
          <p:nvPr/>
        </p:nvSpPr>
        <p:spPr>
          <a:xfrm>
            <a:off x="594360" y="3383280"/>
            <a:ext cx="2148840" cy="484632"/>
          </a:xfrm>
          <a:prstGeom prst="rect">
            <a:avLst/>
          </a:prstGeom>
          <a:solidFill>
            <a:srgbClr val="12264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 txBox="1"/>
          <p:nvPr/>
        </p:nvSpPr>
        <p:spPr>
          <a:xfrm>
            <a:off x="658368" y="3410712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Arquitetura Medalhão</a:t>
            </a: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2852928" y="3383280"/>
            <a:ext cx="2148840" cy="484632"/>
          </a:xfrm>
          <a:prstGeom prst="rect">
            <a:avLst/>
          </a:prstGeom>
          <a:solidFill>
            <a:srgbClr val="12264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2"/>
          <p:cNvSpPr txBox="1"/>
          <p:nvPr/>
        </p:nvSpPr>
        <p:spPr>
          <a:xfrm>
            <a:off x="2916936" y="3410712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Delta Lake ACID</a:t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5111496" y="3383280"/>
            <a:ext cx="2148840" cy="484632"/>
          </a:xfrm>
          <a:prstGeom prst="rect">
            <a:avLst/>
          </a:prstGeom>
          <a:solidFill>
            <a:srgbClr val="12264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2"/>
          <p:cNvSpPr txBox="1"/>
          <p:nvPr/>
        </p:nvSpPr>
        <p:spPr>
          <a:xfrm>
            <a:off x="5175504" y="3410712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XGBoost + MLflow</a:t>
            </a: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7370064" y="3383280"/>
            <a:ext cx="2148840" cy="484632"/>
          </a:xfrm>
          <a:prstGeom prst="rect">
            <a:avLst/>
          </a:prstGeom>
          <a:solidFill>
            <a:srgbClr val="12264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2"/>
          <p:cNvSpPr txBox="1"/>
          <p:nvPr/>
        </p:nvSpPr>
        <p:spPr>
          <a:xfrm>
            <a:off x="7434072" y="3410712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dbt + Airflow</a:t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9628632" y="3383280"/>
            <a:ext cx="2148840" cy="484632"/>
          </a:xfrm>
          <a:prstGeom prst="rect">
            <a:avLst/>
          </a:prstGeom>
          <a:solidFill>
            <a:srgbClr val="12264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 txBox="1"/>
          <p:nvPr/>
        </p:nvSpPr>
        <p:spPr>
          <a:xfrm>
            <a:off x="9692640" y="3410712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Open-Source 100%</a:t>
            </a:r>
            <a:endParaRPr/>
          </a:p>
        </p:txBody>
      </p:sp>
      <p:sp>
        <p:nvSpPr>
          <p:cNvPr id="590" name="Google Shape;590;p12"/>
          <p:cNvSpPr txBox="1"/>
          <p:nvPr/>
        </p:nvSpPr>
        <p:spPr>
          <a:xfrm>
            <a:off x="1371600" y="4251960"/>
            <a:ext cx="9418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/>
          </a:p>
        </p:txBody>
      </p:sp>
      <p:sp>
        <p:nvSpPr>
          <p:cNvPr id="591" name="Google Shape;591;p12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Alessandra Ferreira · Luiz Henrique · Rafael</a:t>
            </a:r>
            <a:endParaRPr/>
          </a:p>
        </p:txBody>
      </p:sp>
      <p:sp>
        <p:nvSpPr>
          <p:cNvPr id="592" name="Google Shape;592;p12"/>
          <p:cNvSpPr txBox="1"/>
          <p:nvPr/>
        </p:nvSpPr>
        <p:spPr>
          <a:xfrm>
            <a:off x="1371600" y="5650992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UniCEUB — Engenharia de Dados · Prof. Luis Carlos Cardoso ·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